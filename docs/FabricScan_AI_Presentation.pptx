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e359a87-43bb-399e-7407-99498676b04d}">
          <p14:sldIdLst>
            <p14:sldId id="256"/>
            <p14:sldId id="257"/>
            <p14:sldId id="258"/>
          </p14:sldIdLst>
        </p14:section>
        <p14:section name="Data" id="{29a3fb34-fef9-94a3-9be1-3632070a5e15}">
          <p14:sldIdLst>
            <p14:sldId id="259"/>
            <p14:sldId id="260"/>
            <p14:sldId id="261"/>
          </p14:sldIdLst>
        </p14:section>
        <p14:section name="Models and results" id="{d6266c3c-6102-a225-0fe8-da285556f38d}">
          <p14:sldIdLst>
            <p14:sldId id="262"/>
            <p14:sldId id="263"/>
            <p14:sldId id="264"/>
            <p14:sldId id="265"/>
          </p14:sldIdLst>
        </p14:section>
        <p14:section name="Product" id="{6f4a7bf2-2d07-4312-336c-519dd55c6adf}">
          <p14:sldIdLst>
            <p14:sldId id="266"/>
            <p14:sldId id="267"/>
          </p14:sldIdLst>
        </p14:section>
        <p14:section name="Wrap-up" id="{760df2eb-4241-50b1-3b1e-ba57c5ae9e0c}">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E3C"/>
                </a:solidFill>
                <a:latin typeface="+mn-lt"/>
              </a:defRPr>
            </a:pPr>
            <a:r>
              <a:rPr sz="1400" b="0" i="0" u="none" strike="noStrike">
                <a:solidFill>
                  <a:srgbClr val="1B1E3C"/>
                </a:solidFill>
                <a:latin typeface="+mn-lt"/>
              </a:rPr>
              <a:t>Images per class (after cleaning)</a:t>
            </a:r>
          </a:p>
        </c:rich>
      </c:tx>
      <c:layout/>
      <c:overlay val="0"/>
    </c:title>
    <c:autoTitleDeleted val="0"/>
    <c:plotArea>
      <c:layout/>
      <c:barChart>
        <c:barDir val="bar"/>
        <c:grouping val="clustered"/>
        <c:varyColors val="0"/>
        <c:ser>
          <c:idx val="0"/>
          <c:order val="0"/>
          <c:tx>
            <c:strRef>
              <c:f>Sheet1!$B$1</c:f>
              <c:strCache>
                <c:ptCount val="1"/>
                <c:pt idx="0">
                  <c:v>Images</c:v>
                </c:pt>
              </c:strCache>
            </c:strRef>
          </c:tx>
          <c:spPr>
            <a:solidFill>
              <a:srgbClr val="3446C4"/>
            </a:solidFill>
            <a:effectLst/>
          </c:spPr>
          <c:invertIfNegative val="0"/>
          <c:dLbls>
            <c:numFmt formatCode="#,##0" sourceLinked="0"/>
            <c:txPr>
              <a:bodyPr/>
              <a:lstStyle/>
              <a:p>
                <a:pPr>
                  <a:defRPr b="0" i="0" strike="noStrike" sz="1200" u="none">
                    <a:solidFill>
                      <a:srgbClr val="1B1E3C"/>
                    </a:solidFill>
                    <a:latin typeface="+mn-lt"/>
                  </a:defRPr>
                </a:pPr>
              </a:p>
            </c:txPr>
            <c:showLegendKey val="0"/>
            <c:showVal val="1"/>
            <c:showCatName val="0"/>
            <c:showSerName val="0"/>
            <c:showPercent val="0"/>
            <c:showBubbleSize val="0"/>
            <c:showLeaderLines val="0"/>
          </c:dLbls>
          <c:cat>
            <c:multiLvlStrRef>
              <c:f>Sheet1!$A$2:$A$5</c:f>
              <c:multiLvlStrCache>
                <c:ptCount val="4"/>
                <c:lvl>
                  <c:pt idx="0">
                    <c:v>Good</c:v>
                  </c:pt>
                  <c:pt idx="1">
                    <c:v>Hole</c:v>
                  </c:pt>
                  <c:pt idx="2">
                    <c:v>Stain</c:v>
                  </c:pt>
                  <c:pt idx="3">
                    <c:v>Broken Thread</c:v>
                  </c:pt>
                </c:lvl>
              </c:multiLvlStrCache>
            </c:multiLvlStrRef>
          </c:cat>
          <c:val>
            <c:numRef>
              <c:f>Sheet1!$B$2:$B$5</c:f>
              <c:numCache>
                <c:formatCode>General</c:formatCode>
                <c:ptCount val="4"/>
                <c:pt idx="0">
                  <c:v>346</c:v>
                </c:pt>
                <c:pt idx="1">
                  <c:v>172</c:v>
                </c:pt>
                <c:pt idx="2">
                  <c:v>283</c:v>
                </c:pt>
                <c:pt idx="3">
                  <c:v>224</c:v>
                </c:pt>
              </c:numCache>
            </c:numRef>
          </c:val>
        </c:ser>
        <c:dLbls>
          <c:numFmt formatCode="#,##0" sourceLinked="0"/>
          <c:txPr>
            <a:bodyPr/>
            <a:lstStyle/>
            <a:p>
              <a:pPr>
                <a:defRPr b="0" i="0" strike="noStrike" sz="1200" u="none">
                  <a:solidFill>
                    <a:srgbClr val="1B1E3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170"/>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E3E5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1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E3C"/>
                </a:solidFill>
                <a:latin typeface="+mn-lt"/>
              </a:defRPr>
            </a:pPr>
            <a:r>
              <a:rPr sz="1400" b="0" i="0" u="none" strike="noStrike">
                <a:solidFill>
                  <a:srgbClr val="1B1E3C"/>
                </a:solidFill>
                <a:latin typeface="+mn-lt"/>
              </a:rPr>
              <a:t>Custom CNN: accuracy per epoch (60 epochs)</a:t>
            </a:r>
          </a:p>
        </c:rich>
      </c:tx>
      <c:layout/>
      <c:overlay val="0"/>
    </c:title>
    <c:autoTitleDeleted val="0"/>
    <c:plotArea>
      <c:layout/>
      <c:lineChart>
        <c:varyColors val="0"/>
        <c:ser>
          <c:idx val="0"/>
          <c:order val="0"/>
          <c:tx>
            <c:strRef>
              <c:f>Sheet1!$B$1</c:f>
              <c:strCache>
                <c:ptCount val="1"/>
                <c:pt idx="0">
                  <c:v>Training</c:v>
                </c:pt>
              </c:strCache>
            </c:strRef>
          </c:tx>
          <c:spPr>
            <a:solidFill>
              <a:srgbClr val="C9821F"/>
            </a:solidFill>
            <a:ln w="25400" cap="flat">
              <a:solidFill>
                <a:srgbClr val="C9821F"/>
              </a:solidFill>
              <a:prstDash val="solid"/>
              <a:round/>
            </a:ln>
            <a:effectLst/>
          </c:spPr>
          <c:invertIfNegative val="0"/>
          <c:dLbls>
            <c:numFmt formatCode="#,##0" sourceLinked="0"/>
            <c:txPr>
              <a:bodyPr/>
              <a:lstStyle/>
              <a:p>
                <a:pPr>
                  <a:defRPr b="0" i="0" strike="noStrike" sz="1200" u="none">
                    <a:solidFill>
                      <a:srgbClr val="1B1E3C"/>
                    </a:solidFill>
                    <a:latin typeface="+mn-lt"/>
                  </a:defRPr>
                </a:pPr>
              </a:p>
            </c:txPr>
            <c:showLegendKey val="0"/>
            <c:showVal val="0"/>
            <c:showCatName val="0"/>
            <c:showSerName val="0"/>
            <c:showPercent val="0"/>
            <c:showBubbleSize val="0"/>
            <c:showLeaderLines val="0"/>
          </c:dLbls>
          <c:marker>
            <c:symbol val="none"/>
            <c:size val="6"/>
            <c:spPr>
              <a:solidFill>
                <a:srgbClr val="C9821F"/>
              </a:solidFill>
              <a:ln w="9525" cap="flat">
                <a:solidFill>
                  <a:srgbClr val="C9821F"/>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Sheet1!$B$2:$B$61</c:f>
              <c:numCache>
                <c:formatCode>General</c:formatCode>
                <c:ptCount val="60"/>
                <c:pt idx="0">
                  <c:v>0.3622</c:v>
                </c:pt>
                <c:pt idx="1">
                  <c:v>0.3245</c:v>
                </c:pt>
                <c:pt idx="2">
                  <c:v>0.421</c:v>
                </c:pt>
                <c:pt idx="3">
                  <c:v>0.414</c:v>
                </c:pt>
                <c:pt idx="4">
                  <c:v>0.4056</c:v>
                </c:pt>
                <c:pt idx="5">
                  <c:v>0.449</c:v>
                </c:pt>
                <c:pt idx="6">
                  <c:v>0.4308</c:v>
                </c:pt>
                <c:pt idx="7">
                  <c:v>0.435</c:v>
                </c:pt>
                <c:pt idx="8">
                  <c:v>0.4685</c:v>
                </c:pt>
                <c:pt idx="9">
                  <c:v>0.4601</c:v>
                </c:pt>
                <c:pt idx="10">
                  <c:v>0.4601</c:v>
                </c:pt>
                <c:pt idx="11">
                  <c:v>0.4685</c:v>
                </c:pt>
                <c:pt idx="12">
                  <c:v>0.4713</c:v>
                </c:pt>
                <c:pt idx="13">
                  <c:v>0.4727</c:v>
                </c:pt>
                <c:pt idx="14">
                  <c:v>0.4951</c:v>
                </c:pt>
                <c:pt idx="15">
                  <c:v>0.4713</c:v>
                </c:pt>
                <c:pt idx="16">
                  <c:v>0.5231</c:v>
                </c:pt>
                <c:pt idx="17">
                  <c:v>0.5245</c:v>
                </c:pt>
                <c:pt idx="18">
                  <c:v>0.5091</c:v>
                </c:pt>
                <c:pt idx="19">
                  <c:v>0.5189</c:v>
                </c:pt>
                <c:pt idx="20">
                  <c:v>0.5524</c:v>
                </c:pt>
                <c:pt idx="21">
                  <c:v>0.5203</c:v>
                </c:pt>
                <c:pt idx="22">
                  <c:v>0.5007</c:v>
                </c:pt>
                <c:pt idx="23">
                  <c:v>0.5273</c:v>
                </c:pt>
                <c:pt idx="24">
                  <c:v>0.5441</c:v>
                </c:pt>
                <c:pt idx="25">
                  <c:v>0.5427</c:v>
                </c:pt>
                <c:pt idx="26">
                  <c:v>0.572</c:v>
                </c:pt>
                <c:pt idx="27">
                  <c:v>0.5594</c:v>
                </c:pt>
                <c:pt idx="28">
                  <c:v>0.5762</c:v>
                </c:pt>
                <c:pt idx="29">
                  <c:v>0.5818</c:v>
                </c:pt>
                <c:pt idx="30">
                  <c:v>0.5986</c:v>
                </c:pt>
                <c:pt idx="31">
                  <c:v>0.6014</c:v>
                </c:pt>
                <c:pt idx="32">
                  <c:v>0.5888</c:v>
                </c:pt>
                <c:pt idx="33">
                  <c:v>0.593</c:v>
                </c:pt>
                <c:pt idx="34">
                  <c:v>0.5692</c:v>
                </c:pt>
                <c:pt idx="35">
                  <c:v>0.6154</c:v>
                </c:pt>
                <c:pt idx="36">
                  <c:v>0.6056</c:v>
                </c:pt>
                <c:pt idx="37">
                  <c:v>0.5846</c:v>
                </c:pt>
                <c:pt idx="38">
                  <c:v>0.607</c:v>
                </c:pt>
                <c:pt idx="39">
                  <c:v>0.5958</c:v>
                </c:pt>
                <c:pt idx="40">
                  <c:v>0.6252</c:v>
                </c:pt>
                <c:pt idx="41">
                  <c:v>0.6182</c:v>
                </c:pt>
                <c:pt idx="42">
                  <c:v>0.628</c:v>
                </c:pt>
                <c:pt idx="43">
                  <c:v>0.6056</c:v>
                </c:pt>
                <c:pt idx="44">
                  <c:v>0.5958</c:v>
                </c:pt>
                <c:pt idx="45">
                  <c:v>0.621</c:v>
                </c:pt>
                <c:pt idx="46">
                  <c:v>0.6084</c:v>
                </c:pt>
                <c:pt idx="47">
                  <c:v>0.5958</c:v>
                </c:pt>
                <c:pt idx="48">
                  <c:v>0.6098</c:v>
                </c:pt>
                <c:pt idx="49">
                  <c:v>0.6154</c:v>
                </c:pt>
                <c:pt idx="50">
                  <c:v>0.628</c:v>
                </c:pt>
                <c:pt idx="51">
                  <c:v>0.628</c:v>
                </c:pt>
                <c:pt idx="52">
                  <c:v>0.607</c:v>
                </c:pt>
                <c:pt idx="53">
                  <c:v>0.6182</c:v>
                </c:pt>
                <c:pt idx="54">
                  <c:v>0.6448</c:v>
                </c:pt>
                <c:pt idx="55">
                  <c:v>0.6014</c:v>
                </c:pt>
                <c:pt idx="56">
                  <c:v>0.6028</c:v>
                </c:pt>
                <c:pt idx="57">
                  <c:v>0.6573</c:v>
                </c:pt>
                <c:pt idx="58">
                  <c:v>0.6518</c:v>
                </c:pt>
                <c:pt idx="59">
                  <c:v>0.628</c:v>
                </c:pt>
              </c:numCache>
            </c:numRef>
          </c:val>
          <c:smooth val="0"/>
        </c:ser>
        <c:ser>
          <c:idx val="1"/>
          <c:order val="1"/>
          <c:tx>
            <c:strRef>
              <c:f>Sheet1!$C$1</c:f>
              <c:strCache>
                <c:ptCount val="1"/>
                <c:pt idx="0">
                  <c:v>Validation</c:v>
                </c:pt>
              </c:strCache>
            </c:strRef>
          </c:tx>
          <c:spPr>
            <a:solidFill>
              <a:srgbClr val="3446C4"/>
            </a:solidFill>
            <a:ln w="25400" cap="flat">
              <a:solidFill>
                <a:srgbClr val="3446C4"/>
              </a:solidFill>
              <a:prstDash val="solid"/>
              <a:round/>
            </a:ln>
            <a:effectLst/>
          </c:spPr>
          <c:invertIfNegative val="0"/>
          <c:dLbls>
            <c:numFmt formatCode="#,##0" sourceLinked="0"/>
            <c:txPr>
              <a:bodyPr/>
              <a:lstStyle/>
              <a:p>
                <a:pPr>
                  <a:defRPr b="0" i="0" strike="noStrike" sz="1200" u="none">
                    <a:solidFill>
                      <a:srgbClr val="1B1E3C"/>
                    </a:solidFill>
                    <a:latin typeface="+mn-lt"/>
                  </a:defRPr>
                </a:pPr>
              </a:p>
            </c:txPr>
            <c:showLegendKey val="0"/>
            <c:showVal val="0"/>
            <c:showCatName val="0"/>
            <c:showSerName val="0"/>
            <c:showPercent val="0"/>
            <c:showBubbleSize val="0"/>
            <c:showLeaderLines val="0"/>
          </c:dLbls>
          <c:marker>
            <c:symbol val="none"/>
            <c:size val="6"/>
            <c:spPr>
              <a:solidFill>
                <a:srgbClr val="3446C4"/>
              </a:solidFill>
              <a:ln w="9525" cap="flat">
                <a:solidFill>
                  <a:srgbClr val="3446C4"/>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Sheet1!$C$2:$C$61</c:f>
              <c:numCache>
                <c:formatCode>General</c:formatCode>
                <c:ptCount val="60"/>
                <c:pt idx="0">
                  <c:v>0.2774</c:v>
                </c:pt>
                <c:pt idx="1">
                  <c:v>0.3032</c:v>
                </c:pt>
                <c:pt idx="2">
                  <c:v>0.3226</c:v>
                </c:pt>
                <c:pt idx="3">
                  <c:v>0.3032</c:v>
                </c:pt>
                <c:pt idx="4">
                  <c:v>0.3548</c:v>
                </c:pt>
                <c:pt idx="5">
                  <c:v>0.3613</c:v>
                </c:pt>
                <c:pt idx="6">
                  <c:v>0.4194</c:v>
                </c:pt>
                <c:pt idx="7">
                  <c:v>0.4903</c:v>
                </c:pt>
                <c:pt idx="8">
                  <c:v>0.3484</c:v>
                </c:pt>
                <c:pt idx="9">
                  <c:v>0.529</c:v>
                </c:pt>
                <c:pt idx="10">
                  <c:v>0.4387</c:v>
                </c:pt>
                <c:pt idx="11">
                  <c:v>0.529</c:v>
                </c:pt>
                <c:pt idx="12">
                  <c:v>0.4903</c:v>
                </c:pt>
                <c:pt idx="13">
                  <c:v>0.5032</c:v>
                </c:pt>
                <c:pt idx="14">
                  <c:v>0.5355</c:v>
                </c:pt>
                <c:pt idx="15">
                  <c:v>0.5484</c:v>
                </c:pt>
                <c:pt idx="16">
                  <c:v>0.5871</c:v>
                </c:pt>
                <c:pt idx="17">
                  <c:v>0.6</c:v>
                </c:pt>
                <c:pt idx="18">
                  <c:v>0.5677</c:v>
                </c:pt>
                <c:pt idx="19">
                  <c:v>0.5677</c:v>
                </c:pt>
                <c:pt idx="20">
                  <c:v>0.6645</c:v>
                </c:pt>
                <c:pt idx="21">
                  <c:v>0.6387</c:v>
                </c:pt>
                <c:pt idx="22">
                  <c:v>0.6193</c:v>
                </c:pt>
                <c:pt idx="23">
                  <c:v>0.6193</c:v>
                </c:pt>
                <c:pt idx="24">
                  <c:v>0.6193</c:v>
                </c:pt>
                <c:pt idx="25">
                  <c:v>0.6452</c:v>
                </c:pt>
                <c:pt idx="26">
                  <c:v>0.6516</c:v>
                </c:pt>
                <c:pt idx="27">
                  <c:v>0.6129</c:v>
                </c:pt>
                <c:pt idx="28">
                  <c:v>0.6452</c:v>
                </c:pt>
                <c:pt idx="29">
                  <c:v>0.671</c:v>
                </c:pt>
                <c:pt idx="30">
                  <c:v>0.671</c:v>
                </c:pt>
                <c:pt idx="31">
                  <c:v>0.6903</c:v>
                </c:pt>
                <c:pt idx="32">
                  <c:v>0.6581</c:v>
                </c:pt>
                <c:pt idx="33">
                  <c:v>0.671</c:v>
                </c:pt>
                <c:pt idx="34">
                  <c:v>0.6129</c:v>
                </c:pt>
                <c:pt idx="35">
                  <c:v>0.671</c:v>
                </c:pt>
                <c:pt idx="36">
                  <c:v>0.6903</c:v>
                </c:pt>
                <c:pt idx="37">
                  <c:v>0.6903</c:v>
                </c:pt>
                <c:pt idx="38">
                  <c:v>0.671</c:v>
                </c:pt>
                <c:pt idx="39">
                  <c:v>0.6839</c:v>
                </c:pt>
                <c:pt idx="40">
                  <c:v>0.6839</c:v>
                </c:pt>
                <c:pt idx="41">
                  <c:v>0.6968</c:v>
                </c:pt>
                <c:pt idx="42">
                  <c:v>0.671</c:v>
                </c:pt>
                <c:pt idx="43">
                  <c:v>0.7032</c:v>
                </c:pt>
                <c:pt idx="44">
                  <c:v>0.6839</c:v>
                </c:pt>
                <c:pt idx="45">
                  <c:v>0.7032</c:v>
                </c:pt>
                <c:pt idx="46">
                  <c:v>0.671</c:v>
                </c:pt>
                <c:pt idx="47">
                  <c:v>0.6645</c:v>
                </c:pt>
                <c:pt idx="48">
                  <c:v>0.7032</c:v>
                </c:pt>
                <c:pt idx="49">
                  <c:v>0.6839</c:v>
                </c:pt>
                <c:pt idx="50">
                  <c:v>0.6774</c:v>
                </c:pt>
                <c:pt idx="51">
                  <c:v>0.6839</c:v>
                </c:pt>
                <c:pt idx="52">
                  <c:v>0.6839</c:v>
                </c:pt>
                <c:pt idx="53">
                  <c:v>0.671</c:v>
                </c:pt>
                <c:pt idx="54">
                  <c:v>0.6839</c:v>
                </c:pt>
                <c:pt idx="55">
                  <c:v>0.6774</c:v>
                </c:pt>
                <c:pt idx="56">
                  <c:v>0.671</c:v>
                </c:pt>
                <c:pt idx="57">
                  <c:v>0.6774</c:v>
                </c:pt>
                <c:pt idx="58">
                  <c:v>0.6774</c:v>
                </c:pt>
                <c:pt idx="59">
                  <c:v>0.671</c:v>
                </c:pt>
              </c:numCache>
            </c:numRef>
          </c:val>
          <c:smooth val="0"/>
        </c:ser>
        <c:dLbls>
          <c:numFmt formatCode="#,##0" sourceLinked="0"/>
          <c:txPr>
            <a:bodyPr/>
            <a:lstStyle/>
            <a:p>
              <a:pPr>
                <a:defRPr b="0" i="0" strike="noStrike" sz="1200" u="none">
                  <a:solidFill>
                    <a:srgbClr val="1B1E3C"/>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170"/>
                    </a:solidFill>
                    <a:latin typeface="Arial"/>
                  </a:defRPr>
                </a:pPr>
                <a:r>
                  <a:rPr sz="1200" b="0" i="0" u="none" strike="noStrike">
                    <a:solidFill>
                      <a:srgbClr val="5B6170"/>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170"/>
                </a:solidFill>
                <a:latin typeface="+mn-lt"/>
              </a:defRPr>
            </a:pPr>
            <a:endParaRPr lang="en-US"/>
          </a:p>
        </c:txPr>
        <c:crossAx val="2094734552"/>
        <c:crosses val="autoZero"/>
        <c:auto val="1"/>
        <c:lblAlgn val="ctr"/>
        <c:noMultiLvlLbl val="1"/>
        <c:tickLblSkip val="10"/>
      </c:catAx>
      <c:valAx>
        <c:axId val="2094734552"/>
        <c:scaling>
          <c:orientation val="minMax"/>
          <c:max val="1"/>
          <c:min val="0.2"/>
        </c:scaling>
        <c:delete val="0"/>
        <c:axPos val="l"/>
        <c:majorGridlines>
          <c:spPr>
            <a:ln w="12700" cap="flat">
              <a:solidFill>
                <a:srgbClr val="E3E5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170"/>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B1E3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E3C"/>
                </a:solidFill>
                <a:latin typeface="+mn-lt"/>
              </a:defRPr>
            </a:pPr>
            <a:r>
              <a:rPr sz="1400" b="0" i="0" u="none" strike="noStrike">
                <a:solidFill>
                  <a:srgbClr val="1B1E3C"/>
                </a:solidFill>
                <a:latin typeface="+mn-lt"/>
              </a:rPr>
              <a:t>MobileNetV2: accuracy per epoch (25 epochs)</a:t>
            </a:r>
          </a:p>
        </c:rich>
      </c:tx>
      <c:layout/>
      <c:overlay val="0"/>
    </c:title>
    <c:autoTitleDeleted val="0"/>
    <c:plotArea>
      <c:layout/>
      <c:lineChart>
        <c:varyColors val="0"/>
        <c:ser>
          <c:idx val="0"/>
          <c:order val="0"/>
          <c:tx>
            <c:strRef>
              <c:f>Sheet1!$B$1</c:f>
              <c:strCache>
                <c:ptCount val="1"/>
                <c:pt idx="0">
                  <c:v>Training</c:v>
                </c:pt>
              </c:strCache>
            </c:strRef>
          </c:tx>
          <c:spPr>
            <a:solidFill>
              <a:srgbClr val="C9821F"/>
            </a:solidFill>
            <a:ln w="25400" cap="flat">
              <a:solidFill>
                <a:srgbClr val="C9821F"/>
              </a:solidFill>
              <a:prstDash val="solid"/>
              <a:round/>
            </a:ln>
            <a:effectLst/>
          </c:spPr>
          <c:invertIfNegative val="0"/>
          <c:dLbls>
            <c:numFmt formatCode="#,##0" sourceLinked="0"/>
            <c:txPr>
              <a:bodyPr/>
              <a:lstStyle/>
              <a:p>
                <a:pPr>
                  <a:defRPr b="0" i="0" strike="noStrike" sz="1200" u="none">
                    <a:solidFill>
                      <a:srgbClr val="1B1E3C"/>
                    </a:solidFill>
                    <a:latin typeface="+mn-lt"/>
                  </a:defRPr>
                </a:pPr>
              </a:p>
            </c:txPr>
            <c:showLegendKey val="0"/>
            <c:showVal val="0"/>
            <c:showCatName val="0"/>
            <c:showSerName val="0"/>
            <c:showPercent val="0"/>
            <c:showBubbleSize val="0"/>
            <c:showLeaderLines val="0"/>
          </c:dLbls>
          <c:marker>
            <c:symbol val="none"/>
            <c:size val="6"/>
            <c:spPr>
              <a:solidFill>
                <a:srgbClr val="C9821F"/>
              </a:solidFill>
              <a:ln w="9525" cap="flat">
                <a:solidFill>
                  <a:srgbClr val="C9821F"/>
                </a:solidFill>
                <a:prstDash val="solid"/>
                <a:round/>
              </a:ln>
              <a:effectLst/>
            </c:spPr>
          </c:marker>
          <c:cat>
            <c:multiLvlStrRef>
              <c:f>Sheet1!$A$2:$A$26</c:f>
              <c:multiLvlStrCache>
                <c:ptCount val="2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lvl>
              </c:multiLvlStrCache>
            </c:multiLvlStrRef>
          </c:cat>
          <c:val>
            <c:numRef>
              <c:f>Sheet1!$B$2:$B$26</c:f>
              <c:numCache>
                <c:formatCode>General</c:formatCode>
                <c:ptCount val="25"/>
                <c:pt idx="0">
                  <c:v>0.4294</c:v>
                </c:pt>
                <c:pt idx="1">
                  <c:v>0.6378</c:v>
                </c:pt>
                <c:pt idx="2">
                  <c:v>0.6769</c:v>
                </c:pt>
                <c:pt idx="3">
                  <c:v>0.6965</c:v>
                </c:pt>
                <c:pt idx="4">
                  <c:v>0.7021</c:v>
                </c:pt>
                <c:pt idx="5">
                  <c:v>0.7189</c:v>
                </c:pt>
                <c:pt idx="6">
                  <c:v>0.765</c:v>
                </c:pt>
                <c:pt idx="7">
                  <c:v>0.7413</c:v>
                </c:pt>
                <c:pt idx="8">
                  <c:v>0.7664</c:v>
                </c:pt>
                <c:pt idx="9">
                  <c:v>0.7385</c:v>
                </c:pt>
                <c:pt idx="10">
                  <c:v>0.7776</c:v>
                </c:pt>
                <c:pt idx="11">
                  <c:v>0.7664</c:v>
                </c:pt>
                <c:pt idx="12">
                  <c:v>0.7636</c:v>
                </c:pt>
                <c:pt idx="13">
                  <c:v>0.7874</c:v>
                </c:pt>
                <c:pt idx="14">
                  <c:v>0.8</c:v>
                </c:pt>
                <c:pt idx="15">
                  <c:v>0.8028</c:v>
                </c:pt>
                <c:pt idx="16">
                  <c:v>0.7944</c:v>
                </c:pt>
                <c:pt idx="17">
                  <c:v>0.807</c:v>
                </c:pt>
                <c:pt idx="18">
                  <c:v>0.8126</c:v>
                </c:pt>
                <c:pt idx="19">
                  <c:v>0.8168</c:v>
                </c:pt>
                <c:pt idx="20">
                  <c:v>0.8014</c:v>
                </c:pt>
                <c:pt idx="21">
                  <c:v>0.8252</c:v>
                </c:pt>
                <c:pt idx="22">
                  <c:v>0.814</c:v>
                </c:pt>
                <c:pt idx="23">
                  <c:v>0.8112</c:v>
                </c:pt>
                <c:pt idx="24">
                  <c:v>0.8364</c:v>
                </c:pt>
              </c:numCache>
            </c:numRef>
          </c:val>
          <c:smooth val="0"/>
        </c:ser>
        <c:ser>
          <c:idx val="1"/>
          <c:order val="1"/>
          <c:tx>
            <c:strRef>
              <c:f>Sheet1!$C$1</c:f>
              <c:strCache>
                <c:ptCount val="1"/>
                <c:pt idx="0">
                  <c:v>Validation</c:v>
                </c:pt>
              </c:strCache>
            </c:strRef>
          </c:tx>
          <c:spPr>
            <a:solidFill>
              <a:srgbClr val="3446C4"/>
            </a:solidFill>
            <a:ln w="25400" cap="flat">
              <a:solidFill>
                <a:srgbClr val="3446C4"/>
              </a:solidFill>
              <a:prstDash val="solid"/>
              <a:round/>
            </a:ln>
            <a:effectLst/>
          </c:spPr>
          <c:invertIfNegative val="0"/>
          <c:dLbls>
            <c:numFmt formatCode="#,##0" sourceLinked="0"/>
            <c:txPr>
              <a:bodyPr/>
              <a:lstStyle/>
              <a:p>
                <a:pPr>
                  <a:defRPr b="0" i="0" strike="noStrike" sz="1200" u="none">
                    <a:solidFill>
                      <a:srgbClr val="1B1E3C"/>
                    </a:solidFill>
                    <a:latin typeface="+mn-lt"/>
                  </a:defRPr>
                </a:pPr>
              </a:p>
            </c:txPr>
            <c:showLegendKey val="0"/>
            <c:showVal val="0"/>
            <c:showCatName val="0"/>
            <c:showSerName val="0"/>
            <c:showPercent val="0"/>
            <c:showBubbleSize val="0"/>
            <c:showLeaderLines val="0"/>
          </c:dLbls>
          <c:marker>
            <c:symbol val="none"/>
            <c:size val="6"/>
            <c:spPr>
              <a:solidFill>
                <a:srgbClr val="3446C4"/>
              </a:solidFill>
              <a:ln w="9525" cap="flat">
                <a:solidFill>
                  <a:srgbClr val="3446C4"/>
                </a:solidFill>
                <a:prstDash val="solid"/>
                <a:round/>
              </a:ln>
              <a:effectLst/>
            </c:spPr>
          </c:marker>
          <c:cat>
            <c:multiLvlStrRef>
              <c:f>Sheet1!$A$2:$A$26</c:f>
              <c:multiLvlStrCache>
                <c:ptCount val="2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lvl>
              </c:multiLvlStrCache>
            </c:multiLvlStrRef>
          </c:cat>
          <c:val>
            <c:numRef>
              <c:f>Sheet1!$C$2:$C$26</c:f>
              <c:numCache>
                <c:formatCode>General</c:formatCode>
                <c:ptCount val="25"/>
                <c:pt idx="0">
                  <c:v>0.6323</c:v>
                </c:pt>
                <c:pt idx="1">
                  <c:v>0.7161</c:v>
                </c:pt>
                <c:pt idx="2">
                  <c:v>0.7161</c:v>
                </c:pt>
                <c:pt idx="3">
                  <c:v>0.7226</c:v>
                </c:pt>
                <c:pt idx="4">
                  <c:v>0.7355</c:v>
                </c:pt>
                <c:pt idx="5">
                  <c:v>0.7355</c:v>
                </c:pt>
                <c:pt idx="6">
                  <c:v>0.7613</c:v>
                </c:pt>
                <c:pt idx="7">
                  <c:v>0.7419</c:v>
                </c:pt>
                <c:pt idx="8">
                  <c:v>0.7419</c:v>
                </c:pt>
                <c:pt idx="9">
                  <c:v>0.7613</c:v>
                </c:pt>
                <c:pt idx="10">
                  <c:v>0.729</c:v>
                </c:pt>
                <c:pt idx="11">
                  <c:v>0.7548</c:v>
                </c:pt>
                <c:pt idx="12">
                  <c:v>0.7419</c:v>
                </c:pt>
                <c:pt idx="13">
                  <c:v>0.7419</c:v>
                </c:pt>
                <c:pt idx="14">
                  <c:v>0.7548</c:v>
                </c:pt>
                <c:pt idx="15">
                  <c:v>0.7613</c:v>
                </c:pt>
                <c:pt idx="16">
                  <c:v>0.7677</c:v>
                </c:pt>
                <c:pt idx="17">
                  <c:v>0.7613</c:v>
                </c:pt>
                <c:pt idx="18">
                  <c:v>0.7742</c:v>
                </c:pt>
                <c:pt idx="19">
                  <c:v>0.7548</c:v>
                </c:pt>
                <c:pt idx="20">
                  <c:v>0.7419</c:v>
                </c:pt>
                <c:pt idx="21">
                  <c:v>0.7548</c:v>
                </c:pt>
                <c:pt idx="22">
                  <c:v>0.7419</c:v>
                </c:pt>
                <c:pt idx="23">
                  <c:v>0.7484</c:v>
                </c:pt>
                <c:pt idx="24">
                  <c:v>0.7548</c:v>
                </c:pt>
              </c:numCache>
            </c:numRef>
          </c:val>
          <c:smooth val="0"/>
        </c:ser>
        <c:dLbls>
          <c:numFmt formatCode="#,##0" sourceLinked="0"/>
          <c:txPr>
            <a:bodyPr/>
            <a:lstStyle/>
            <a:p>
              <a:pPr>
                <a:defRPr b="0" i="0" strike="noStrike" sz="1200" u="none">
                  <a:solidFill>
                    <a:srgbClr val="1B1E3C"/>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170"/>
                    </a:solidFill>
                    <a:latin typeface="Arial"/>
                  </a:defRPr>
                </a:pPr>
                <a:r>
                  <a:rPr sz="1200" b="0" i="0" u="none" strike="noStrike">
                    <a:solidFill>
                      <a:srgbClr val="5B6170"/>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170"/>
                </a:solidFill>
                <a:latin typeface="+mn-lt"/>
              </a:defRPr>
            </a:pPr>
            <a:endParaRPr lang="en-US"/>
          </a:p>
        </c:txPr>
        <c:crossAx val="2094734552"/>
        <c:crosses val="autoZero"/>
        <c:auto val="1"/>
        <c:lblAlgn val="ctr"/>
        <c:noMultiLvlLbl val="1"/>
        <c:tickLblSkip val="4"/>
      </c:catAx>
      <c:valAx>
        <c:axId val="2094734552"/>
        <c:scaling>
          <c:orientation val="minMax"/>
          <c:max val="1"/>
          <c:min val="0.2"/>
        </c:scaling>
        <c:delete val="0"/>
        <c:axPos val="l"/>
        <c:majorGridlines>
          <c:spPr>
            <a:ln w="12700" cap="flat">
              <a:solidFill>
                <a:srgbClr val="E3E5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170"/>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B1E3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E3C"/>
                </a:solidFill>
                <a:latin typeface="+mn-lt"/>
              </a:defRPr>
            </a:pPr>
            <a:r>
              <a:rPr sz="1400" b="0" i="0" u="none" strike="noStrike">
                <a:solidFill>
                  <a:srgbClr val="1B1E3C"/>
                </a:solidFill>
                <a:latin typeface="+mn-lt"/>
              </a:rPr>
              <a:t>Test split: 155 images never used for training (%)</a:t>
            </a:r>
          </a:p>
        </c:rich>
      </c:tx>
      <c:layout/>
      <c:overlay val="0"/>
    </c:title>
    <c:autoTitleDeleted val="0"/>
    <c:plotArea>
      <c:layout/>
      <c:barChart>
        <c:barDir val="col"/>
        <c:grouping val="clustered"/>
        <c:varyColors val="0"/>
        <c:ser>
          <c:idx val="0"/>
          <c:order val="0"/>
          <c:tx>
            <c:strRef>
              <c:f>Sheet1!$B$1</c:f>
              <c:strCache>
                <c:ptCount val="1"/>
                <c:pt idx="0">
                  <c:v>MobileNetV2</c:v>
                </c:pt>
              </c:strCache>
            </c:strRef>
          </c:tx>
          <c:spPr>
            <a:solidFill>
              <a:srgbClr val="3446C4"/>
            </a:solidFill>
            <a:effectLst/>
          </c:spPr>
          <c:invertIfNegative val="0"/>
          <c:dLbls>
            <c:numFmt formatCode="0.0" sourceLinked="0"/>
            <c:txPr>
              <a:bodyPr/>
              <a:lstStyle/>
              <a:p>
                <a:pPr>
                  <a:defRPr b="0" i="0" strike="noStrike" sz="1200" u="none">
                    <a:solidFill>
                      <a:srgbClr val="1B1E3C"/>
                    </a:solidFill>
                    <a:latin typeface="+mn-lt"/>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Macro F1</c:v>
                  </c:pt>
                </c:lvl>
              </c:multiLvlStrCache>
            </c:multiLvlStrRef>
          </c:cat>
          <c:val>
            <c:numRef>
              <c:f>Sheet1!$B$2:$B$5</c:f>
              <c:numCache>
                <c:formatCode>General</c:formatCode>
                <c:ptCount val="4"/>
                <c:pt idx="0">
                  <c:v>81.3</c:v>
                </c:pt>
                <c:pt idx="1">
                  <c:v>83.4</c:v>
                </c:pt>
                <c:pt idx="2">
                  <c:v>83.1</c:v>
                </c:pt>
                <c:pt idx="3">
                  <c:v>82.1</c:v>
                </c:pt>
              </c:numCache>
            </c:numRef>
          </c:val>
        </c:ser>
        <c:ser>
          <c:idx val="1"/>
          <c:order val="1"/>
          <c:tx>
            <c:strRef>
              <c:f>Sheet1!$C$1</c:f>
              <c:strCache>
                <c:ptCount val="1"/>
                <c:pt idx="0">
                  <c:v>Custom CNN</c:v>
                </c:pt>
              </c:strCache>
            </c:strRef>
          </c:tx>
          <c:spPr>
            <a:solidFill>
              <a:srgbClr val="C9821F"/>
            </a:solidFill>
            <a:effectLst/>
          </c:spPr>
          <c:invertIfNegative val="0"/>
          <c:dLbls>
            <c:numFmt formatCode="0.0" sourceLinked="0"/>
            <c:txPr>
              <a:bodyPr/>
              <a:lstStyle/>
              <a:p>
                <a:pPr>
                  <a:defRPr b="0" i="0" strike="noStrike" sz="1200" u="none">
                    <a:solidFill>
                      <a:srgbClr val="1B1E3C"/>
                    </a:solidFill>
                    <a:latin typeface="+mn-lt"/>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Macro F1</c:v>
                  </c:pt>
                </c:lvl>
              </c:multiLvlStrCache>
            </c:multiLvlStrRef>
          </c:cat>
          <c:val>
            <c:numRef>
              <c:f>Sheet1!$C$2:$C$5</c:f>
              <c:numCache>
                <c:formatCode>General</c:formatCode>
                <c:ptCount val="4"/>
                <c:pt idx="0">
                  <c:v>68.4</c:v>
                </c:pt>
                <c:pt idx="1">
                  <c:v>71.6</c:v>
                </c:pt>
                <c:pt idx="2">
                  <c:v>71.1</c:v>
                </c:pt>
                <c:pt idx="3">
                  <c:v>69.2</c:v>
                </c:pt>
              </c:numCache>
            </c:numRef>
          </c:val>
        </c:ser>
        <c:dLbls>
          <c:numFmt formatCode="0.0" sourceLinked="0"/>
          <c:txPr>
            <a:bodyPr/>
            <a:lstStyle/>
            <a:p>
              <a:pPr>
                <a:defRPr b="0" i="0" strike="noStrike" sz="1200" u="none">
                  <a:solidFill>
                    <a:srgbClr val="1B1E3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170"/>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12700" cap="flat">
              <a:solidFill>
                <a:srgbClr val="E3E5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170"/>
                </a:solidFill>
                <a:latin typeface="+mn-lt"/>
              </a:defRPr>
            </a:pPr>
            <a:endParaRPr lang="en-US"/>
          </a:p>
        </c:txPr>
        <c:crossAx val="2094734554"/>
        <c:crosses val="autoZero"/>
        <c:crossBetween val="between"/>
        <c:majorUnit val="20"/>
      </c:valAx>
      <c:spPr>
        <a:noFill/>
        <a:ln>
          <a:noFill/>
        </a:ln>
        <a:effectLst/>
      </c:spPr>
    </c:plotArea>
    <c:legend>
      <c:legendPos val="t"/>
      <c:overlay val="0"/>
      <c:txPr>
        <a:bodyPr/>
        <a:lstStyle/>
        <a:p>
          <a:pPr>
            <a:defRPr sz="1200">
              <a:solidFill>
                <a:srgbClr val="1B1E3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Assalam-o-Alaikum. My name is Hamza, and this is my Deep Learning semester project at Superior University, Gold Campus, under the supervision of Dr. Munir Ahmed. The project is called FabricScan AI. It looks at a photo of a fabric or a garment, finds defects, and writes an inspection report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textile industry, fabric is still mostly inspected by eye. It is slow, it is tiring, and the result depends on the inspector. Defects that slip through come back as complaints and waste. My goal was simple: a phone photo goes in, and the defect type, its location, its severity and an inspection note come out,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works. You upload a photo, use the camera, or pick a sample. A neural network sorts the image into one of four classes: good, hole, stain or broken thread. Its activation map shows where the defect is. From that, the app estimates the affected area and the severity, adds likely causes and a recommended action, and creates a report you can copy or download as PDF or PNG. Everything runs inside the browser, so no photo is uploaded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1,025 images in four classes. They come from five public Kaggle datasets: close-ups of woven and knitted fabric, garment seams, stained clothes, and clean clothes as people wear them. The origin and licence of every image is recorded, and the whole cleaned dataset can be downloaded from the website as one ZIP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prepare the data, labelled defect boxes were cut into square close-ups, so the defect stays visible at the model's input size. A cleaning step then removed corrupt, very small and duplicate images, 53 in total. The images were split into 70, 15 and 15 percent by their source image, so no near-copy appears in both training and test, and a leakage audit checks this. During training I used augmentation: small rotations, zoom, flips, brightness, contrast and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with my own phone camera exposed a real problem. A clean checked shirt was classified as a stain with more than 99 percent confidence. The model had learned a shortcut: in the data, every photo of a worn garment was a stain, and plain grey cotton appeared mostly in the stain class. I fixed this in the data, by adding clean worn garments and plain grey cotton to the good class. Now, on 150 photos of clean worn garments that the model has never seen, 92 percent are classified as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two models on exactly the same data. The first is a custom convolutional network trained from scratch, with four convolution stages, batch normalisation, dropout and L2 regularisation. The second uses transfer learning: MobileNetV2, pre-trained on ImageNet. It is first trained with its base frozen, and then the top 40 layers are fine-tuned with a very small learning rate. Both models use class weights, early stopping and the same augmentation.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curves show the accuracy during training. MobileNetV2 learns much faster, because it starts from features learned on millions of images, and the fine-tuning phase gives it another boost. The custom network needs all 60 epochs and still ends lower. On my laptop CPU, the custom network trained for about 29 minutes, and MobileNetV2 for about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test set, 155 images that were never used for training, MobileNetV2 reaches 81.3 percent accuracy and a macro F1 score of 0.82. The custom network reaches 68.4 percent. That is why MobileNetV2 is the model that runs on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where the model is right and where it slips. Holes are recognised best, with an F1 score of 0.92. The hardest class is stain: some faint stains are taken for broken threads or for good fabric, and some clean fabrics with seams or folds are taken for broken threads. These are clear targets for the next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web app. After a photo is analysed, it shows the class with its confidence, the location on a three by three grid, the affected area and the severity, followed by an automatic description with likely causes and a recommended action. The report can be downloaded as a PDF or a PNG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public on GitHub and deployed on Vercel. The repository contains the source code, the trained weights in ONNX and Keras format, the dataset, and a predict script. Anyone can test the model with one command, and the website links to the code, the dataset, the model, the report and this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limitations. The model knows only four classes, so defects like tears or colour bleeding are outside what it has learned, and very different lighting or distance can mislead it. Next, I would add more classes and my own photos, use segmentation for exact defect outlines, and build a camera mode for production lines. The main lesson for me: a good test score is not enough. Testing early with real camera photos showed problems that the test set could 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watching. You can try FabricScan AI yourself at fabricscan-ai dot vercel dot app, and the full code, dataset and model are on GitHub under hamzaDeploys slash fabricscan-ai.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E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965960"/>
            <a:ext cx="658368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154680"/>
            <a:ext cx="6400800" cy="109728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FabricScan AI  ·  Deep Learning semester project  ·  Hamza</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C:\Users\LEEN TEXTILE\AppData\Local\Temp\claude\c--Users-LEEN-TEXTILE-Desktop-project\fc54ecae-a23f-4005-9127-854e117de4b4\scratchpad\deck\img\logo.png">    </p:cNvPr>
          <p:cNvPicPr>
            <a:picLocks noChangeAspect="1"/>
          </p:cNvPicPr>
          <p:nvPr/>
        </p:nvPicPr>
        <p:blipFill>
          <a:blip r:embed="rId1"/>
          <a:stretch>
            <a:fillRect/>
          </a:stretch>
        </p:blipFill>
        <p:spPr>
          <a:xfrm>
            <a:off x="640080" y="640080"/>
            <a:ext cx="822960" cy="822960"/>
          </a:xfrm>
          <a:prstGeom prst="rect">
            <a:avLst/>
          </a:prstGeom>
        </p:spPr>
      </p:pic>
      <p:sp>
        <p:nvSpPr>
          <p:cNvPr id="4" name="Text 0"/>
          <p:cNvSpPr txBox="1"/>
          <p:nvPr/>
        </p:nvSpPr>
        <p:spPr>
          <a:xfrm>
            <a:off x="1600200" y="868680"/>
            <a:ext cx="4572000" cy="365760"/>
          </a:xfrm>
          <a:prstGeom prst="rect">
            <a:avLst/>
          </a:prstGeom>
          <a:noFill/>
          <a:ln/>
        </p:spPr>
        <p:txBody>
          <a:bodyPr wrap="square" lIns="0" tIns="0" rIns="0" bIns="0" rtlCol="0" anchor="t"/>
          <a:lstStyle/>
          <a:p>
            <a:pPr indent="0" marL="0">
              <a:buNone/>
            </a:pPr>
            <a:r>
              <a:rPr lang="en-US" sz="1600" dirty="0">
                <a:solidFill>
                  <a:schemeClr val="bg2"/>
                </a:solidFill>
              </a:rPr>
              <a:t>Deep Learning semester project</a:t>
            </a:r>
            <a:endParaRPr lang="en-US" sz="1600" dirty="0"/>
          </a:p>
        </p:txBody>
      </p:sp>
      <p:sp>
        <p:nvSpPr>
          <p:cNvPr id="5" name="Text 0"/>
          <p:cNvSpPr/>
          <p:nvPr>
            <p:ph idx="100" type="title" hasCustomPrompt="1"/>
          </p:nvPr>
        </p:nvSpPr>
        <p:spPr>
          <a:xfrm>
            <a:off x="640080" y="1965960"/>
            <a:ext cx="6583680" cy="1097280"/>
          </a:xfrm>
          <a:prstGeom prst="rect">
            <a:avLst/>
          </a:prstGeom>
          <a:noFill/>
          <a:ln/>
        </p:spPr>
        <p:txBody>
          <a:bodyPr wrap="square" lIns="0" tIns="0" rIns="0" bIns="0" rtlCol="0" anchor="b"/>
          <a:lstStyle/>
          <a:p>
            <a:pPr algn="l" indent="0" marL="0">
              <a:buNone/>
            </a:pPr>
            <a:r>
              <a:rPr lang="en-US" sz="5400" b="1" dirty="0">
                <a:solidFill>
                  <a:schemeClr val="bg1"/>
                </a:solidFill>
              </a:rPr>
              <a:t>FabricScan AI</a:t>
            </a:r>
            <a:endParaRPr lang="en-US" sz="5400" dirty="0"/>
          </a:p>
        </p:txBody>
      </p:sp>
      <p:sp>
        <p:nvSpPr>
          <p:cNvPr id="6" name="Text 0"/>
          <p:cNvSpPr/>
          <p:nvPr>
            <p:ph idx="101" type="body" hasCustomPrompt="1"/>
          </p:nvPr>
        </p:nvSpPr>
        <p:spPr>
          <a:xfrm>
            <a:off x="640080" y="3154680"/>
            <a:ext cx="6400800" cy="1097280"/>
          </a:xfrm>
          <a:prstGeom prst="rect">
            <a:avLst/>
          </a:prstGeom>
          <a:noFill/>
          <a:ln/>
        </p:spPr>
        <p:txBody>
          <a:bodyPr wrap="square" lIns="0" tIns="0" rIns="0" bIns="0" rtlCol="0" anchor="t"/>
          <a:lstStyle/>
          <a:p>
            <a:pPr indent="0" marL="0">
              <a:buNone/>
            </a:pPr>
            <a:r>
              <a:rPr lang="en-US" sz="2200" dirty="0">
                <a:solidFill>
                  <a:schemeClr val="bg2"/>
                </a:solidFill>
              </a:rPr>
              <a:t>AI-based fabric defect detection with an automatic inspection report</a:t>
            </a:r>
            <a:endParaRPr lang="en-US" sz="2200" dirty="0"/>
          </a:p>
        </p:txBody>
      </p:sp>
      <p:sp>
        <p:nvSpPr>
          <p:cNvPr id="7" name="Text 3"/>
          <p:cNvSpPr txBox="1"/>
          <p:nvPr/>
        </p:nvSpPr>
        <p:spPr>
          <a:xfrm>
            <a:off x="640080" y="4800600"/>
            <a:ext cx="6583680" cy="10972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Hamza</a:t>
            </a:r>
            <a:endParaRPr lang="en-US" sz="1600" dirty="0"/>
          </a:p>
          <a:p>
            <a:pPr indent="0" marL="0">
              <a:spcAft>
                <a:spcPts val="400"/>
              </a:spcAft>
              <a:buNone/>
            </a:pPr>
            <a:r>
              <a:rPr lang="en-US" sz="1600" dirty="0">
                <a:solidFill>
                  <a:schemeClr val="bg2"/>
                </a:solidFill>
              </a:rPr>
              <a:t>Superior University, Gold Campus  ·  Instructor: Dr. Munir Ahmed</a:t>
            </a:r>
            <a:endParaRPr lang="en-US" sz="1600" dirty="0"/>
          </a:p>
          <a:p>
            <a:pPr indent="0" marL="0">
              <a:spcAft>
                <a:spcPts val="400"/>
              </a:spcAft>
              <a:buNone/>
            </a:pPr>
            <a:r>
              <a:rPr lang="en-US" sz="1600" b="1" dirty="0">
                <a:solidFill>
                  <a:schemeClr val="accent2"/>
                </a:solidFill>
              </a:rPr>
              <a:t>fabricscan-ai.vercel.app</a:t>
            </a:r>
            <a:endParaRPr lang="en-US" sz="1600" dirty="0"/>
          </a:p>
        </p:txBody>
      </p:sp>
      <p:pic>
        <p:nvPicPr>
          <p:cNvPr id="8" name="Image 1" descr="C:\Users\LEEN TEXTILE\AppData\Local\Temp\claude\c--Users-LEEN-TEXTILE-Desktop-project\fc54ecae-a23f-4005-9127-854e117de4b4\scratchpad\deck\img\good-1.jpg">    </p:cNvPr>
          <p:cNvPicPr>
            <a:picLocks noChangeAspect="1"/>
          </p:cNvPicPr>
          <p:nvPr/>
        </p:nvPicPr>
        <p:blipFill>
          <a:blip r:embed="rId2"/>
          <a:srcRect l="0" r="0" t="0" b="0"/>
          <a:stretch/>
        </p:blipFill>
        <p:spPr>
          <a:xfrm>
            <a:off x="7818120" y="1051560"/>
            <a:ext cx="1828800" cy="1828800"/>
          </a:xfrm>
          <a:prstGeom prst="rect">
            <a:avLst/>
          </a:prstGeom>
        </p:spPr>
      </p:pic>
      <p:sp>
        <p:nvSpPr>
          <p:cNvPr id="9" name="Text 4"/>
          <p:cNvSpPr txBox="1"/>
          <p:nvPr/>
        </p:nvSpPr>
        <p:spPr>
          <a:xfrm>
            <a:off x="7818120" y="2953512"/>
            <a:ext cx="1828800" cy="320040"/>
          </a:xfrm>
          <a:prstGeom prst="rect">
            <a:avLst/>
          </a:prstGeom>
          <a:noFill/>
          <a:ln/>
        </p:spPr>
        <p:txBody>
          <a:bodyPr wrap="square" lIns="0" tIns="0" rIns="0" bIns="0" rtlCol="0" anchor="t"/>
          <a:lstStyle/>
          <a:p>
            <a:pPr algn="ctr" indent="0" marL="0">
              <a:buNone/>
            </a:pPr>
            <a:r>
              <a:rPr lang="en-US" sz="1400" dirty="0">
                <a:solidFill>
                  <a:schemeClr val="bg2"/>
                </a:solidFill>
              </a:rPr>
              <a:t>Good</a:t>
            </a:r>
            <a:endParaRPr lang="en-US" sz="1400" dirty="0"/>
          </a:p>
        </p:txBody>
      </p:sp>
      <p:pic>
        <p:nvPicPr>
          <p:cNvPr id="10" name="Image 2" descr="C:\Users\LEEN TEXTILE\AppData\Local\Temp\claude\c--Users-LEEN-TEXTILE-Desktop-project\fc54ecae-a23f-4005-9127-854e117de4b4\scratchpad\deck\img\hole-1.jpg">    </p:cNvPr>
          <p:cNvPicPr>
            <a:picLocks noChangeAspect="1"/>
          </p:cNvPicPr>
          <p:nvPr/>
        </p:nvPicPr>
        <p:blipFill>
          <a:blip r:embed="rId3"/>
          <a:srcRect l="0" r="0" t="0" b="0"/>
          <a:stretch/>
        </p:blipFill>
        <p:spPr>
          <a:xfrm>
            <a:off x="9829800" y="1051560"/>
            <a:ext cx="1828800" cy="1828800"/>
          </a:xfrm>
          <a:prstGeom prst="rect">
            <a:avLst/>
          </a:prstGeom>
        </p:spPr>
      </p:pic>
      <p:sp>
        <p:nvSpPr>
          <p:cNvPr id="11" name="Text 5"/>
          <p:cNvSpPr txBox="1"/>
          <p:nvPr/>
        </p:nvSpPr>
        <p:spPr>
          <a:xfrm>
            <a:off x="9829800" y="2953512"/>
            <a:ext cx="1828800" cy="320040"/>
          </a:xfrm>
          <a:prstGeom prst="rect">
            <a:avLst/>
          </a:prstGeom>
          <a:noFill/>
          <a:ln/>
        </p:spPr>
        <p:txBody>
          <a:bodyPr wrap="square" lIns="0" tIns="0" rIns="0" bIns="0" rtlCol="0" anchor="t"/>
          <a:lstStyle/>
          <a:p>
            <a:pPr algn="ctr" indent="0" marL="0">
              <a:buNone/>
            </a:pPr>
            <a:r>
              <a:rPr lang="en-US" sz="1400" dirty="0">
                <a:solidFill>
                  <a:schemeClr val="bg2"/>
                </a:solidFill>
              </a:rPr>
              <a:t>Hole</a:t>
            </a:r>
            <a:endParaRPr lang="en-US" sz="1400" dirty="0"/>
          </a:p>
        </p:txBody>
      </p:sp>
      <p:pic>
        <p:nvPicPr>
          <p:cNvPr id="12" name="Image 3" descr="C:\Users\LEEN TEXTILE\AppData\Local\Temp\claude\c--Users-LEEN-TEXTILE-Desktop-project\fc54ecae-a23f-4005-9127-854e117de4b4\scratchpad\deck\img\stain-1.jpg">    </p:cNvPr>
          <p:cNvPicPr>
            <a:picLocks noChangeAspect="1"/>
          </p:cNvPicPr>
          <p:nvPr/>
        </p:nvPicPr>
        <p:blipFill>
          <a:blip r:embed="rId4"/>
          <a:srcRect l="0" r="0" t="0" b="0"/>
          <a:stretch/>
        </p:blipFill>
        <p:spPr>
          <a:xfrm>
            <a:off x="7818120" y="3429000"/>
            <a:ext cx="1828800" cy="1828800"/>
          </a:xfrm>
          <a:prstGeom prst="rect">
            <a:avLst/>
          </a:prstGeom>
        </p:spPr>
      </p:pic>
      <p:sp>
        <p:nvSpPr>
          <p:cNvPr id="13" name="Text 6"/>
          <p:cNvSpPr txBox="1"/>
          <p:nvPr/>
        </p:nvSpPr>
        <p:spPr>
          <a:xfrm>
            <a:off x="7818120" y="5330952"/>
            <a:ext cx="1828800" cy="320040"/>
          </a:xfrm>
          <a:prstGeom prst="rect">
            <a:avLst/>
          </a:prstGeom>
          <a:noFill/>
          <a:ln/>
        </p:spPr>
        <p:txBody>
          <a:bodyPr wrap="square" lIns="0" tIns="0" rIns="0" bIns="0" rtlCol="0" anchor="t"/>
          <a:lstStyle/>
          <a:p>
            <a:pPr algn="ctr" indent="0" marL="0">
              <a:buNone/>
            </a:pPr>
            <a:r>
              <a:rPr lang="en-US" sz="1400" dirty="0">
                <a:solidFill>
                  <a:schemeClr val="bg2"/>
                </a:solidFill>
              </a:rPr>
              <a:t>Stain</a:t>
            </a:r>
            <a:endParaRPr lang="en-US" sz="1400" dirty="0"/>
          </a:p>
        </p:txBody>
      </p:sp>
      <p:pic>
        <p:nvPicPr>
          <p:cNvPr id="14" name="Image 4" descr="C:\Users\LEEN TEXTILE\AppData\Local\Temp\claude\c--Users-LEEN-TEXTILE-Desktop-project\fc54ecae-a23f-4005-9127-854e117de4b4\scratchpad\deck\img\broken_thread-1.jpg">    </p:cNvPr>
          <p:cNvPicPr>
            <a:picLocks noChangeAspect="1"/>
          </p:cNvPicPr>
          <p:nvPr/>
        </p:nvPicPr>
        <p:blipFill>
          <a:blip r:embed="rId5"/>
          <a:srcRect l="0" r="0" t="0" b="0"/>
          <a:stretch/>
        </p:blipFill>
        <p:spPr>
          <a:xfrm>
            <a:off x="9829800" y="3429000"/>
            <a:ext cx="1828800" cy="1828800"/>
          </a:xfrm>
          <a:prstGeom prst="rect">
            <a:avLst/>
          </a:prstGeom>
        </p:spPr>
      </p:pic>
      <p:sp>
        <p:nvSpPr>
          <p:cNvPr id="15" name="Text 7"/>
          <p:cNvSpPr txBox="1"/>
          <p:nvPr/>
        </p:nvSpPr>
        <p:spPr>
          <a:xfrm>
            <a:off x="9829800" y="5330952"/>
            <a:ext cx="1828800" cy="320040"/>
          </a:xfrm>
          <a:prstGeom prst="rect">
            <a:avLst/>
          </a:prstGeom>
          <a:noFill/>
          <a:ln/>
        </p:spPr>
        <p:txBody>
          <a:bodyPr wrap="square" lIns="0" tIns="0" rIns="0" bIns="0" rtlCol="0" anchor="t"/>
          <a:lstStyle/>
          <a:p>
            <a:pPr algn="ctr" indent="0" marL="0">
              <a:buNone/>
            </a:pPr>
            <a:r>
              <a:rPr lang="en-US" sz="1400" dirty="0">
                <a:solidFill>
                  <a:schemeClr val="bg2"/>
                </a:solidFill>
              </a:rPr>
              <a:t>Broken thread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Fabric is still inspected by eye</a:t>
            </a:r>
            <a:endParaRPr lang="en-US" sz="3200" dirty="0"/>
          </a:p>
        </p:txBody>
      </p:sp>
      <p:sp>
        <p:nvSpPr>
          <p:cNvPr id="4" name="Shape 1"/>
          <p:cNvSpPr/>
          <p:nvPr/>
        </p:nvSpPr>
        <p:spPr>
          <a:xfrm>
            <a:off x="548640" y="1417320"/>
            <a:ext cx="6035040" cy="1280160"/>
          </a:xfrm>
          <a:prstGeom prst="roundRect">
            <a:avLst>
              <a:gd name="adj" fmla="val 8571"/>
            </a:avLst>
          </a:prstGeom>
          <a:solidFill>
            <a:schemeClr val="bg2"/>
          </a:solidFill>
          <a:ln w="12700">
            <a:solidFill>
              <a:schemeClr val="bg2"/>
            </a:solidFill>
            <a:prstDash val="solid"/>
          </a:ln>
        </p:spPr>
      </p:sp>
      <p:sp>
        <p:nvSpPr>
          <p:cNvPr id="5" name="Shape 2"/>
          <p:cNvSpPr/>
          <p:nvPr/>
        </p:nvSpPr>
        <p:spPr>
          <a:xfrm>
            <a:off x="822960" y="1801368"/>
            <a:ext cx="502920" cy="502920"/>
          </a:xfrm>
          <a:prstGeom prst="ellipse">
            <a:avLst/>
          </a:prstGeom>
          <a:solidFill>
            <a:schemeClr val="accent1"/>
          </a:solidFill>
          <a:ln w="12700">
            <a:solidFill>
              <a:schemeClr val="accent1"/>
            </a:solidFill>
            <a:prstDash val="solid"/>
          </a:ln>
        </p:spPr>
      </p:sp>
      <p:sp>
        <p:nvSpPr>
          <p:cNvPr id="6" name="Text 3"/>
          <p:cNvSpPr txBox="1"/>
          <p:nvPr/>
        </p:nvSpPr>
        <p:spPr>
          <a:xfrm>
            <a:off x="822960" y="18013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600200" y="1645920"/>
            <a:ext cx="4754880" cy="411480"/>
          </a:xfrm>
          <a:prstGeom prst="rect">
            <a:avLst/>
          </a:prstGeom>
          <a:noFill/>
          <a:ln/>
        </p:spPr>
        <p:txBody>
          <a:bodyPr wrap="square" lIns="0" tIns="0" rIns="0" bIns="0" rtlCol="0" anchor="t"/>
          <a:lstStyle/>
          <a:p>
            <a:pPr indent="0" marL="0">
              <a:buNone/>
            </a:pPr>
            <a:r>
              <a:rPr lang="en-US" sz="2200" b="1" dirty="0">
                <a:solidFill>
                  <a:schemeClr val="tx1"/>
                </a:solidFill>
              </a:rPr>
              <a:t>Slow</a:t>
            </a:r>
            <a:endParaRPr lang="en-US" sz="2200" dirty="0"/>
          </a:p>
        </p:txBody>
      </p:sp>
      <p:sp>
        <p:nvSpPr>
          <p:cNvPr id="8" name="Text 5"/>
          <p:cNvSpPr txBox="1"/>
          <p:nvPr/>
        </p:nvSpPr>
        <p:spPr>
          <a:xfrm>
            <a:off x="1600200" y="2075688"/>
            <a:ext cx="4754880" cy="502920"/>
          </a:xfrm>
          <a:prstGeom prst="rect">
            <a:avLst/>
          </a:prstGeom>
          <a:noFill/>
          <a:ln/>
        </p:spPr>
        <p:txBody>
          <a:bodyPr wrap="square" lIns="0" tIns="0" rIns="0" bIns="0" rtlCol="0" anchor="t"/>
          <a:lstStyle/>
          <a:p>
            <a:pPr indent="0" marL="0">
              <a:buNone/>
            </a:pPr>
            <a:r>
              <a:rPr lang="en-US" sz="1600" dirty="0">
                <a:solidFill>
                  <a:schemeClr val="accent4"/>
                </a:solidFill>
              </a:rPr>
              <a:t>An inspector checks every metre of fabric by hand.</a:t>
            </a:r>
            <a:endParaRPr lang="en-US" sz="1600" dirty="0"/>
          </a:p>
        </p:txBody>
      </p:sp>
      <p:sp>
        <p:nvSpPr>
          <p:cNvPr id="9" name="Shape 6"/>
          <p:cNvSpPr/>
          <p:nvPr/>
        </p:nvSpPr>
        <p:spPr>
          <a:xfrm>
            <a:off x="548640" y="2926080"/>
            <a:ext cx="6035040" cy="1280160"/>
          </a:xfrm>
          <a:prstGeom prst="roundRect">
            <a:avLst>
              <a:gd name="adj" fmla="val 8571"/>
            </a:avLst>
          </a:prstGeom>
          <a:solidFill>
            <a:schemeClr val="bg2"/>
          </a:solidFill>
          <a:ln w="12700">
            <a:solidFill>
              <a:schemeClr val="bg2"/>
            </a:solidFill>
            <a:prstDash val="solid"/>
          </a:ln>
        </p:spPr>
      </p:sp>
      <p:sp>
        <p:nvSpPr>
          <p:cNvPr id="10" name="Shape 7"/>
          <p:cNvSpPr/>
          <p:nvPr/>
        </p:nvSpPr>
        <p:spPr>
          <a:xfrm>
            <a:off x="822960" y="3310128"/>
            <a:ext cx="502920" cy="502920"/>
          </a:xfrm>
          <a:prstGeom prst="ellipse">
            <a:avLst/>
          </a:prstGeom>
          <a:solidFill>
            <a:schemeClr val="accent1"/>
          </a:solidFill>
          <a:ln w="12700">
            <a:solidFill>
              <a:schemeClr val="accent1"/>
            </a:solidFill>
            <a:prstDash val="solid"/>
          </a:ln>
        </p:spPr>
      </p:sp>
      <p:sp>
        <p:nvSpPr>
          <p:cNvPr id="11" name="Text 8"/>
          <p:cNvSpPr txBox="1"/>
          <p:nvPr/>
        </p:nvSpPr>
        <p:spPr>
          <a:xfrm>
            <a:off x="822960" y="331012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600200" y="3154680"/>
            <a:ext cx="4754880" cy="411480"/>
          </a:xfrm>
          <a:prstGeom prst="rect">
            <a:avLst/>
          </a:prstGeom>
          <a:noFill/>
          <a:ln/>
        </p:spPr>
        <p:txBody>
          <a:bodyPr wrap="square" lIns="0" tIns="0" rIns="0" bIns="0" rtlCol="0" anchor="t"/>
          <a:lstStyle/>
          <a:p>
            <a:pPr indent="0" marL="0">
              <a:buNone/>
            </a:pPr>
            <a:r>
              <a:rPr lang="en-US" sz="2200" b="1" dirty="0">
                <a:solidFill>
                  <a:schemeClr val="tx1"/>
                </a:solidFill>
              </a:rPr>
              <a:t>Inconsistent</a:t>
            </a:r>
            <a:endParaRPr lang="en-US" sz="2200" dirty="0"/>
          </a:p>
        </p:txBody>
      </p:sp>
      <p:sp>
        <p:nvSpPr>
          <p:cNvPr id="13" name="Text 10"/>
          <p:cNvSpPr txBox="1"/>
          <p:nvPr/>
        </p:nvSpPr>
        <p:spPr>
          <a:xfrm>
            <a:off x="1600200" y="3584448"/>
            <a:ext cx="4754880" cy="502920"/>
          </a:xfrm>
          <a:prstGeom prst="rect">
            <a:avLst/>
          </a:prstGeom>
          <a:noFill/>
          <a:ln/>
        </p:spPr>
        <p:txBody>
          <a:bodyPr wrap="square" lIns="0" tIns="0" rIns="0" bIns="0" rtlCol="0" anchor="t"/>
          <a:lstStyle/>
          <a:p>
            <a:pPr indent="0" marL="0">
              <a:buNone/>
            </a:pPr>
            <a:r>
              <a:rPr lang="en-US" sz="1600" dirty="0">
                <a:solidFill>
                  <a:schemeClr val="accent4"/>
                </a:solidFill>
              </a:rPr>
              <a:t>Results change with fatigue and from one inspector to the next.</a:t>
            </a:r>
            <a:endParaRPr lang="en-US" sz="1600" dirty="0"/>
          </a:p>
        </p:txBody>
      </p:sp>
      <p:sp>
        <p:nvSpPr>
          <p:cNvPr id="14" name="Shape 11"/>
          <p:cNvSpPr/>
          <p:nvPr/>
        </p:nvSpPr>
        <p:spPr>
          <a:xfrm>
            <a:off x="548640" y="4434840"/>
            <a:ext cx="6035040" cy="1280160"/>
          </a:xfrm>
          <a:prstGeom prst="roundRect">
            <a:avLst>
              <a:gd name="adj" fmla="val 8571"/>
            </a:avLst>
          </a:prstGeom>
          <a:solidFill>
            <a:schemeClr val="bg2"/>
          </a:solidFill>
          <a:ln w="12700">
            <a:solidFill>
              <a:schemeClr val="bg2"/>
            </a:solidFill>
            <a:prstDash val="solid"/>
          </a:ln>
        </p:spPr>
      </p:sp>
      <p:sp>
        <p:nvSpPr>
          <p:cNvPr id="15" name="Shape 12"/>
          <p:cNvSpPr/>
          <p:nvPr/>
        </p:nvSpPr>
        <p:spPr>
          <a:xfrm>
            <a:off x="822960" y="4818888"/>
            <a:ext cx="502920" cy="502920"/>
          </a:xfrm>
          <a:prstGeom prst="ellipse">
            <a:avLst/>
          </a:prstGeom>
          <a:solidFill>
            <a:schemeClr val="accent1"/>
          </a:solidFill>
          <a:ln w="12700">
            <a:solidFill>
              <a:schemeClr val="accent1"/>
            </a:solidFill>
            <a:prstDash val="solid"/>
          </a:ln>
        </p:spPr>
      </p:sp>
      <p:sp>
        <p:nvSpPr>
          <p:cNvPr id="16" name="Text 13"/>
          <p:cNvSpPr txBox="1"/>
          <p:nvPr/>
        </p:nvSpPr>
        <p:spPr>
          <a:xfrm>
            <a:off x="822960" y="481888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1600200" y="4663440"/>
            <a:ext cx="4754880" cy="411480"/>
          </a:xfrm>
          <a:prstGeom prst="rect">
            <a:avLst/>
          </a:prstGeom>
          <a:noFill/>
          <a:ln/>
        </p:spPr>
        <p:txBody>
          <a:bodyPr wrap="square" lIns="0" tIns="0" rIns="0" bIns="0" rtlCol="0" anchor="t"/>
          <a:lstStyle/>
          <a:p>
            <a:pPr indent="0" marL="0">
              <a:buNone/>
            </a:pPr>
            <a:r>
              <a:rPr lang="en-US" sz="2200" b="1" dirty="0">
                <a:solidFill>
                  <a:schemeClr val="tx1"/>
                </a:solidFill>
              </a:rPr>
              <a:t>Costly</a:t>
            </a:r>
            <a:endParaRPr lang="en-US" sz="2200" dirty="0"/>
          </a:p>
        </p:txBody>
      </p:sp>
      <p:sp>
        <p:nvSpPr>
          <p:cNvPr id="18" name="Text 15"/>
          <p:cNvSpPr txBox="1"/>
          <p:nvPr/>
        </p:nvSpPr>
        <p:spPr>
          <a:xfrm>
            <a:off x="1600200" y="5093208"/>
            <a:ext cx="4754880" cy="502920"/>
          </a:xfrm>
          <a:prstGeom prst="rect">
            <a:avLst/>
          </a:prstGeom>
          <a:noFill/>
          <a:ln/>
        </p:spPr>
        <p:txBody>
          <a:bodyPr wrap="square" lIns="0" tIns="0" rIns="0" bIns="0" rtlCol="0" anchor="t"/>
          <a:lstStyle/>
          <a:p>
            <a:pPr indent="0" marL="0">
              <a:buNone/>
            </a:pPr>
            <a:r>
              <a:rPr lang="en-US" sz="1600" dirty="0">
                <a:solidFill>
                  <a:schemeClr val="accent4"/>
                </a:solidFill>
              </a:rPr>
              <a:t>Defects that slip through return as complaints, rework and waste.</a:t>
            </a:r>
            <a:endParaRPr lang="en-US" sz="1600" dirty="0"/>
          </a:p>
        </p:txBody>
      </p:sp>
      <p:sp>
        <p:nvSpPr>
          <p:cNvPr id="19" name="Shape 16"/>
          <p:cNvSpPr/>
          <p:nvPr/>
        </p:nvSpPr>
        <p:spPr>
          <a:xfrm>
            <a:off x="6995160" y="1417320"/>
            <a:ext cx="4617720" cy="4297680"/>
          </a:xfrm>
          <a:prstGeom prst="roundRect">
            <a:avLst>
              <a:gd name="adj" fmla="val 2553"/>
            </a:avLst>
          </a:prstGeom>
          <a:solidFill>
            <a:schemeClr val="accent3"/>
          </a:solidFill>
          <a:ln w="12700">
            <a:solidFill>
              <a:schemeClr val="accent3"/>
            </a:solidFill>
            <a:prstDash val="solid"/>
          </a:ln>
        </p:spPr>
      </p:sp>
      <p:sp>
        <p:nvSpPr>
          <p:cNvPr id="20" name="Text 17"/>
          <p:cNvSpPr txBox="1"/>
          <p:nvPr/>
        </p:nvSpPr>
        <p:spPr>
          <a:xfrm>
            <a:off x="7360920" y="1783080"/>
            <a:ext cx="393192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GOAL</a:t>
            </a:r>
            <a:endParaRPr lang="en-US" sz="1600" dirty="0"/>
          </a:p>
        </p:txBody>
      </p:sp>
      <p:sp>
        <p:nvSpPr>
          <p:cNvPr id="21" name="Text 18"/>
          <p:cNvSpPr txBox="1"/>
          <p:nvPr/>
        </p:nvSpPr>
        <p:spPr>
          <a:xfrm>
            <a:off x="7360920" y="2240280"/>
            <a:ext cx="3931920" cy="548640"/>
          </a:xfrm>
          <a:prstGeom prst="rect">
            <a:avLst/>
          </a:prstGeom>
          <a:noFill/>
          <a:ln/>
        </p:spPr>
        <p:txBody>
          <a:bodyPr wrap="square" lIns="0" tIns="0" rIns="0" bIns="0" rtlCol="0" anchor="t"/>
          <a:lstStyle/>
          <a:p>
            <a:pPr indent="0" marL="0">
              <a:buNone/>
            </a:pPr>
            <a:r>
              <a:rPr lang="en-US" sz="2800" b="1" dirty="0">
                <a:solidFill>
                  <a:schemeClr val="bg1"/>
                </a:solidFill>
              </a:rPr>
              <a:t>A phone photo in.</a:t>
            </a:r>
            <a:endParaRPr lang="en-US" sz="2800" dirty="0"/>
          </a:p>
        </p:txBody>
      </p:sp>
      <p:sp>
        <p:nvSpPr>
          <p:cNvPr id="22" name="Text 19"/>
          <p:cNvSpPr txBox="1"/>
          <p:nvPr/>
        </p:nvSpPr>
        <p:spPr>
          <a:xfrm>
            <a:off x="7360920" y="2834640"/>
            <a:ext cx="3931920" cy="1280160"/>
          </a:xfrm>
          <a:prstGeom prst="rect">
            <a:avLst/>
          </a:prstGeom>
          <a:noFill/>
          <a:ln/>
        </p:spPr>
        <p:txBody>
          <a:bodyPr wrap="square" lIns="0" tIns="0" rIns="0" bIns="0" rtlCol="0" anchor="t"/>
          <a:lstStyle/>
          <a:p>
            <a:pPr indent="0" marL="0">
              <a:buNone/>
            </a:pPr>
            <a:r>
              <a:rPr lang="en-US" sz="2400" dirty="0">
                <a:solidFill>
                  <a:schemeClr val="bg1"/>
                </a:solidFill>
              </a:rPr>
              <a:t>Defect type, location, severity and an inspection note out.</a:t>
            </a:r>
            <a:endParaRPr lang="en-US" sz="2400" dirty="0"/>
          </a:p>
        </p:txBody>
      </p:sp>
      <p:sp>
        <p:nvSpPr>
          <p:cNvPr id="23" name="Text 20"/>
          <p:cNvSpPr txBox="1"/>
          <p:nvPr/>
        </p:nvSpPr>
        <p:spPr>
          <a:xfrm>
            <a:off x="7360920" y="4526280"/>
            <a:ext cx="3931920" cy="822960"/>
          </a:xfrm>
          <a:prstGeom prst="rect">
            <a:avLst/>
          </a:prstGeom>
          <a:noFill/>
          <a:ln/>
        </p:spPr>
        <p:txBody>
          <a:bodyPr wrap="square" lIns="0" tIns="0" rIns="0" bIns="0" rtlCol="0" anchor="t"/>
          <a:lstStyle/>
          <a:p>
            <a:pPr indent="0" marL="0">
              <a:buNone/>
            </a:pPr>
            <a:r>
              <a:rPr lang="en-US" sz="1600" dirty="0">
                <a:solidFill>
                  <a:schemeClr val="bg2"/>
                </a:solidFill>
              </a:rPr>
              <a:t>In seconds, on any device, without uploading the photo.</a:t>
            </a:r>
            <a:endParaRPr lang="en-US" sz="1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From photo to inspection report</a:t>
            </a:r>
            <a:endParaRPr lang="en-US" sz="3200" dirty="0"/>
          </a:p>
        </p:txBody>
      </p:sp>
      <p:sp>
        <p:nvSpPr>
          <p:cNvPr id="4" name="Shape 1"/>
          <p:cNvSpPr/>
          <p:nvPr/>
        </p:nvSpPr>
        <p:spPr>
          <a:xfrm>
            <a:off x="548640" y="1600200"/>
            <a:ext cx="1965960" cy="2606040"/>
          </a:xfrm>
          <a:prstGeom prst="roundRect">
            <a:avLst>
              <a:gd name="adj" fmla="val 5581"/>
            </a:avLst>
          </a:prstGeom>
          <a:solidFill>
            <a:schemeClr val="bg2"/>
          </a:solidFill>
          <a:ln w="12700">
            <a:solidFill>
              <a:schemeClr val="bg2"/>
            </a:solidFill>
            <a:prstDash val="solid"/>
          </a:ln>
        </p:spPr>
      </p:sp>
      <p:sp>
        <p:nvSpPr>
          <p:cNvPr id="5" name="Shape 2"/>
          <p:cNvSpPr/>
          <p:nvPr/>
        </p:nvSpPr>
        <p:spPr>
          <a:xfrm>
            <a:off x="777240" y="1828800"/>
            <a:ext cx="548640" cy="548640"/>
          </a:xfrm>
          <a:prstGeom prst="ellipse">
            <a:avLst/>
          </a:prstGeom>
          <a:solidFill>
            <a:schemeClr val="accent1"/>
          </a:solidFill>
          <a:ln w="12700">
            <a:solidFill>
              <a:schemeClr val="accent1"/>
            </a:solidFill>
            <a:prstDash val="solid"/>
          </a:ln>
        </p:spPr>
      </p:sp>
      <p:sp>
        <p:nvSpPr>
          <p:cNvPr id="6" name="Text 3"/>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777240" y="2560320"/>
            <a:ext cx="1554480" cy="411480"/>
          </a:xfrm>
          <a:prstGeom prst="rect">
            <a:avLst/>
          </a:prstGeom>
          <a:noFill/>
          <a:ln/>
        </p:spPr>
        <p:txBody>
          <a:bodyPr wrap="square" lIns="0" tIns="0" rIns="0" bIns="0" rtlCol="0" anchor="t"/>
          <a:lstStyle/>
          <a:p>
            <a:pPr indent="0" marL="0">
              <a:buNone/>
            </a:pPr>
            <a:r>
              <a:rPr lang="en-US" sz="2200" b="1" dirty="0">
                <a:solidFill>
                  <a:schemeClr val="tx1"/>
                </a:solidFill>
              </a:rPr>
              <a:t>Photo</a:t>
            </a:r>
            <a:endParaRPr lang="en-US" sz="2200" dirty="0"/>
          </a:p>
        </p:txBody>
      </p:sp>
      <p:sp>
        <p:nvSpPr>
          <p:cNvPr id="8" name="Text 5"/>
          <p:cNvSpPr txBox="1"/>
          <p:nvPr/>
        </p:nvSpPr>
        <p:spPr>
          <a:xfrm>
            <a:off x="777240" y="3017520"/>
            <a:ext cx="1554480" cy="1005840"/>
          </a:xfrm>
          <a:prstGeom prst="rect">
            <a:avLst/>
          </a:prstGeom>
          <a:noFill/>
          <a:ln/>
        </p:spPr>
        <p:txBody>
          <a:bodyPr wrap="square" lIns="0" tIns="0" rIns="0" bIns="0" rtlCol="0" anchor="t"/>
          <a:lstStyle/>
          <a:p>
            <a:pPr indent="0" marL="0">
              <a:buNone/>
            </a:pPr>
            <a:r>
              <a:rPr lang="en-US" sz="1500" dirty="0">
                <a:solidFill>
                  <a:schemeClr val="accent4"/>
                </a:solidFill>
              </a:rPr>
              <a:t>Upload, camera or a sample image</a:t>
            </a:r>
            <a:endParaRPr lang="en-US" sz="1500" dirty="0"/>
          </a:p>
        </p:txBody>
      </p:sp>
      <p:sp>
        <p:nvSpPr>
          <p:cNvPr id="9" name="Shape 6"/>
          <p:cNvSpPr/>
          <p:nvPr/>
        </p:nvSpPr>
        <p:spPr>
          <a:xfrm>
            <a:off x="2551176" y="2898648"/>
            <a:ext cx="237744" cy="0"/>
          </a:xfrm>
          <a:prstGeom prst="line">
            <a:avLst/>
          </a:prstGeom>
          <a:noFill/>
          <a:ln w="25400">
            <a:solidFill>
              <a:schemeClr val="accent2"/>
            </a:solidFill>
            <a:prstDash val="solid"/>
            <a:tailEnd type="triangle"/>
          </a:ln>
        </p:spPr>
      </p:sp>
      <p:sp>
        <p:nvSpPr>
          <p:cNvPr id="10" name="Shape 7"/>
          <p:cNvSpPr/>
          <p:nvPr/>
        </p:nvSpPr>
        <p:spPr>
          <a:xfrm>
            <a:off x="2825496" y="1600200"/>
            <a:ext cx="1965960" cy="2606040"/>
          </a:xfrm>
          <a:prstGeom prst="roundRect">
            <a:avLst>
              <a:gd name="adj" fmla="val 5581"/>
            </a:avLst>
          </a:prstGeom>
          <a:solidFill>
            <a:schemeClr val="bg2"/>
          </a:solidFill>
          <a:ln w="12700">
            <a:solidFill>
              <a:schemeClr val="bg2"/>
            </a:solidFill>
            <a:prstDash val="solid"/>
          </a:ln>
        </p:spPr>
      </p:sp>
      <p:sp>
        <p:nvSpPr>
          <p:cNvPr id="11" name="Shape 8"/>
          <p:cNvSpPr/>
          <p:nvPr/>
        </p:nvSpPr>
        <p:spPr>
          <a:xfrm>
            <a:off x="3054096" y="1828800"/>
            <a:ext cx="548640" cy="548640"/>
          </a:xfrm>
          <a:prstGeom prst="ellipse">
            <a:avLst/>
          </a:prstGeom>
          <a:solidFill>
            <a:schemeClr val="accent1"/>
          </a:solidFill>
          <a:ln w="12700">
            <a:solidFill>
              <a:schemeClr val="accent1"/>
            </a:solidFill>
            <a:prstDash val="solid"/>
          </a:ln>
        </p:spPr>
      </p:sp>
      <p:sp>
        <p:nvSpPr>
          <p:cNvPr id="12" name="Text 9"/>
          <p:cNvSpPr txBox="1"/>
          <p:nvPr/>
        </p:nvSpPr>
        <p:spPr>
          <a:xfrm>
            <a:off x="3054096" y="1828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3054096" y="2560320"/>
            <a:ext cx="1554480" cy="411480"/>
          </a:xfrm>
          <a:prstGeom prst="rect">
            <a:avLst/>
          </a:prstGeom>
          <a:noFill/>
          <a:ln/>
        </p:spPr>
        <p:txBody>
          <a:bodyPr wrap="square" lIns="0" tIns="0" rIns="0" bIns="0" rtlCol="0" anchor="t"/>
          <a:lstStyle/>
          <a:p>
            <a:pPr indent="0" marL="0">
              <a:buNone/>
            </a:pPr>
            <a:r>
              <a:rPr lang="en-US" sz="2200" b="1" dirty="0">
                <a:solidFill>
                  <a:schemeClr val="tx1"/>
                </a:solidFill>
              </a:rPr>
              <a:t>Classify</a:t>
            </a:r>
            <a:endParaRPr lang="en-US" sz="2200" dirty="0"/>
          </a:p>
        </p:txBody>
      </p:sp>
      <p:sp>
        <p:nvSpPr>
          <p:cNvPr id="14" name="Text 11"/>
          <p:cNvSpPr txBox="1"/>
          <p:nvPr/>
        </p:nvSpPr>
        <p:spPr>
          <a:xfrm>
            <a:off x="3054096" y="3017520"/>
            <a:ext cx="1554480" cy="1005840"/>
          </a:xfrm>
          <a:prstGeom prst="rect">
            <a:avLst/>
          </a:prstGeom>
          <a:noFill/>
          <a:ln/>
        </p:spPr>
        <p:txBody>
          <a:bodyPr wrap="square" lIns="0" tIns="0" rIns="0" bIns="0" rtlCol="0" anchor="t"/>
          <a:lstStyle/>
          <a:p>
            <a:pPr indent="0" marL="0">
              <a:buNone/>
            </a:pPr>
            <a:r>
              <a:rPr lang="en-US" sz="1500" dirty="0">
                <a:solidFill>
                  <a:schemeClr val="accent4"/>
                </a:solidFill>
              </a:rPr>
              <a:t>MobileNetV2 scores the four classes</a:t>
            </a:r>
            <a:endParaRPr lang="en-US" sz="1500" dirty="0"/>
          </a:p>
        </p:txBody>
      </p:sp>
      <p:sp>
        <p:nvSpPr>
          <p:cNvPr id="15" name="Shape 12"/>
          <p:cNvSpPr/>
          <p:nvPr/>
        </p:nvSpPr>
        <p:spPr>
          <a:xfrm>
            <a:off x="4828032" y="2898648"/>
            <a:ext cx="237744" cy="0"/>
          </a:xfrm>
          <a:prstGeom prst="line">
            <a:avLst/>
          </a:prstGeom>
          <a:noFill/>
          <a:ln w="25400">
            <a:solidFill>
              <a:schemeClr val="accent2"/>
            </a:solidFill>
            <a:prstDash val="solid"/>
            <a:tailEnd type="triangle"/>
          </a:ln>
        </p:spPr>
      </p:sp>
      <p:sp>
        <p:nvSpPr>
          <p:cNvPr id="16" name="Shape 13"/>
          <p:cNvSpPr/>
          <p:nvPr/>
        </p:nvSpPr>
        <p:spPr>
          <a:xfrm>
            <a:off x="5102352" y="1600200"/>
            <a:ext cx="1965960" cy="2606040"/>
          </a:xfrm>
          <a:prstGeom prst="roundRect">
            <a:avLst>
              <a:gd name="adj" fmla="val 5581"/>
            </a:avLst>
          </a:prstGeom>
          <a:solidFill>
            <a:schemeClr val="bg2"/>
          </a:solidFill>
          <a:ln w="12700">
            <a:solidFill>
              <a:schemeClr val="bg2"/>
            </a:solidFill>
            <a:prstDash val="solid"/>
          </a:ln>
        </p:spPr>
      </p:sp>
      <p:sp>
        <p:nvSpPr>
          <p:cNvPr id="17" name="Shape 14"/>
          <p:cNvSpPr/>
          <p:nvPr/>
        </p:nvSpPr>
        <p:spPr>
          <a:xfrm>
            <a:off x="5330952" y="1828800"/>
            <a:ext cx="548640" cy="548640"/>
          </a:xfrm>
          <a:prstGeom prst="ellipse">
            <a:avLst/>
          </a:prstGeom>
          <a:solidFill>
            <a:schemeClr val="accent1"/>
          </a:solidFill>
          <a:ln w="12700">
            <a:solidFill>
              <a:schemeClr val="accent1"/>
            </a:solidFill>
            <a:prstDash val="solid"/>
          </a:ln>
        </p:spPr>
      </p:sp>
      <p:sp>
        <p:nvSpPr>
          <p:cNvPr id="18" name="Text 15"/>
          <p:cNvSpPr txBox="1"/>
          <p:nvPr/>
        </p:nvSpPr>
        <p:spPr>
          <a:xfrm>
            <a:off x="5330952" y="1828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9" name="Text 16"/>
          <p:cNvSpPr txBox="1"/>
          <p:nvPr/>
        </p:nvSpPr>
        <p:spPr>
          <a:xfrm>
            <a:off x="5330952" y="2560320"/>
            <a:ext cx="1554480" cy="411480"/>
          </a:xfrm>
          <a:prstGeom prst="rect">
            <a:avLst/>
          </a:prstGeom>
          <a:noFill/>
          <a:ln/>
        </p:spPr>
        <p:txBody>
          <a:bodyPr wrap="square" lIns="0" tIns="0" rIns="0" bIns="0" rtlCol="0" anchor="t"/>
          <a:lstStyle/>
          <a:p>
            <a:pPr indent="0" marL="0">
              <a:buNone/>
            </a:pPr>
            <a:r>
              <a:rPr lang="en-US" sz="2200" b="1" dirty="0">
                <a:solidFill>
                  <a:schemeClr val="tx1"/>
                </a:solidFill>
              </a:rPr>
              <a:t>Locate</a:t>
            </a:r>
            <a:endParaRPr lang="en-US" sz="2200" dirty="0"/>
          </a:p>
        </p:txBody>
      </p:sp>
      <p:sp>
        <p:nvSpPr>
          <p:cNvPr id="20" name="Text 17"/>
          <p:cNvSpPr txBox="1"/>
          <p:nvPr/>
        </p:nvSpPr>
        <p:spPr>
          <a:xfrm>
            <a:off x="5330952" y="3017520"/>
            <a:ext cx="1554480" cy="1005840"/>
          </a:xfrm>
          <a:prstGeom prst="rect">
            <a:avLst/>
          </a:prstGeom>
          <a:noFill/>
          <a:ln/>
        </p:spPr>
        <p:txBody>
          <a:bodyPr wrap="square" lIns="0" tIns="0" rIns="0" bIns="0" rtlCol="0" anchor="t"/>
          <a:lstStyle/>
          <a:p>
            <a:pPr indent="0" marL="0">
              <a:buNone/>
            </a:pPr>
            <a:r>
              <a:rPr lang="en-US" sz="1500" dirty="0">
                <a:solidFill>
                  <a:schemeClr val="accent4"/>
                </a:solidFill>
              </a:rPr>
              <a:t>Activation map plus colour contrast</a:t>
            </a:r>
            <a:endParaRPr lang="en-US" sz="1500" dirty="0"/>
          </a:p>
        </p:txBody>
      </p:sp>
      <p:sp>
        <p:nvSpPr>
          <p:cNvPr id="21" name="Shape 18"/>
          <p:cNvSpPr/>
          <p:nvPr/>
        </p:nvSpPr>
        <p:spPr>
          <a:xfrm>
            <a:off x="7104888" y="2898648"/>
            <a:ext cx="237744" cy="0"/>
          </a:xfrm>
          <a:prstGeom prst="line">
            <a:avLst/>
          </a:prstGeom>
          <a:noFill/>
          <a:ln w="25400">
            <a:solidFill>
              <a:schemeClr val="accent2"/>
            </a:solidFill>
            <a:prstDash val="solid"/>
            <a:tailEnd type="triangle"/>
          </a:ln>
        </p:spPr>
      </p:sp>
      <p:sp>
        <p:nvSpPr>
          <p:cNvPr id="22" name="Shape 19"/>
          <p:cNvSpPr/>
          <p:nvPr/>
        </p:nvSpPr>
        <p:spPr>
          <a:xfrm>
            <a:off x="7379208" y="1600200"/>
            <a:ext cx="1965960" cy="2606040"/>
          </a:xfrm>
          <a:prstGeom prst="roundRect">
            <a:avLst>
              <a:gd name="adj" fmla="val 5581"/>
            </a:avLst>
          </a:prstGeom>
          <a:solidFill>
            <a:schemeClr val="bg2"/>
          </a:solidFill>
          <a:ln w="12700">
            <a:solidFill>
              <a:schemeClr val="bg2"/>
            </a:solidFill>
            <a:prstDash val="solid"/>
          </a:ln>
        </p:spPr>
      </p:sp>
      <p:sp>
        <p:nvSpPr>
          <p:cNvPr id="23" name="Shape 20"/>
          <p:cNvSpPr/>
          <p:nvPr/>
        </p:nvSpPr>
        <p:spPr>
          <a:xfrm>
            <a:off x="7607808" y="1828800"/>
            <a:ext cx="548640" cy="548640"/>
          </a:xfrm>
          <a:prstGeom prst="ellipse">
            <a:avLst/>
          </a:prstGeom>
          <a:solidFill>
            <a:schemeClr val="accent1"/>
          </a:solidFill>
          <a:ln w="12700">
            <a:solidFill>
              <a:schemeClr val="accent1"/>
            </a:solidFill>
            <a:prstDash val="solid"/>
          </a:ln>
        </p:spPr>
      </p:sp>
      <p:sp>
        <p:nvSpPr>
          <p:cNvPr id="24" name="Text 21"/>
          <p:cNvSpPr txBox="1"/>
          <p:nvPr/>
        </p:nvSpPr>
        <p:spPr>
          <a:xfrm>
            <a:off x="7607808" y="1828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5" name="Text 22"/>
          <p:cNvSpPr txBox="1"/>
          <p:nvPr/>
        </p:nvSpPr>
        <p:spPr>
          <a:xfrm>
            <a:off x="7607808" y="2560320"/>
            <a:ext cx="1554480" cy="411480"/>
          </a:xfrm>
          <a:prstGeom prst="rect">
            <a:avLst/>
          </a:prstGeom>
          <a:noFill/>
          <a:ln/>
        </p:spPr>
        <p:txBody>
          <a:bodyPr wrap="square" lIns="0" tIns="0" rIns="0" bIns="0" rtlCol="0" anchor="t"/>
          <a:lstStyle/>
          <a:p>
            <a:pPr indent="0" marL="0">
              <a:buNone/>
            </a:pPr>
            <a:r>
              <a:rPr lang="en-US" sz="2200" b="1" dirty="0">
                <a:solidFill>
                  <a:schemeClr val="tx1"/>
                </a:solidFill>
              </a:rPr>
              <a:t>Grade</a:t>
            </a:r>
            <a:endParaRPr lang="en-US" sz="2200" dirty="0"/>
          </a:p>
        </p:txBody>
      </p:sp>
      <p:sp>
        <p:nvSpPr>
          <p:cNvPr id="26" name="Text 23"/>
          <p:cNvSpPr txBox="1"/>
          <p:nvPr/>
        </p:nvSpPr>
        <p:spPr>
          <a:xfrm>
            <a:off x="7607808" y="3017520"/>
            <a:ext cx="1554480" cy="1005840"/>
          </a:xfrm>
          <a:prstGeom prst="rect">
            <a:avLst/>
          </a:prstGeom>
          <a:noFill/>
          <a:ln/>
        </p:spPr>
        <p:txBody>
          <a:bodyPr wrap="square" lIns="0" tIns="0" rIns="0" bIns="0" rtlCol="0" anchor="t"/>
          <a:lstStyle/>
          <a:p>
            <a:pPr indent="0" marL="0">
              <a:buNone/>
            </a:pPr>
            <a:r>
              <a:rPr lang="en-US" sz="1500" dirty="0">
                <a:solidFill>
                  <a:schemeClr val="accent4"/>
                </a:solidFill>
              </a:rPr>
              <a:t>Area, severity, causes and action</a:t>
            </a:r>
            <a:endParaRPr lang="en-US" sz="1500" dirty="0"/>
          </a:p>
        </p:txBody>
      </p:sp>
      <p:sp>
        <p:nvSpPr>
          <p:cNvPr id="27" name="Shape 24"/>
          <p:cNvSpPr/>
          <p:nvPr/>
        </p:nvSpPr>
        <p:spPr>
          <a:xfrm>
            <a:off x="9381744" y="2898648"/>
            <a:ext cx="237744" cy="0"/>
          </a:xfrm>
          <a:prstGeom prst="line">
            <a:avLst/>
          </a:prstGeom>
          <a:noFill/>
          <a:ln w="25400">
            <a:solidFill>
              <a:schemeClr val="accent2"/>
            </a:solidFill>
            <a:prstDash val="solid"/>
            <a:tailEnd type="triangle"/>
          </a:ln>
        </p:spPr>
      </p:sp>
      <p:sp>
        <p:nvSpPr>
          <p:cNvPr id="28" name="Shape 25"/>
          <p:cNvSpPr/>
          <p:nvPr/>
        </p:nvSpPr>
        <p:spPr>
          <a:xfrm>
            <a:off x="9656064" y="1600200"/>
            <a:ext cx="1965960" cy="2606040"/>
          </a:xfrm>
          <a:prstGeom prst="roundRect">
            <a:avLst>
              <a:gd name="adj" fmla="val 5581"/>
            </a:avLst>
          </a:prstGeom>
          <a:solidFill>
            <a:schemeClr val="bg2"/>
          </a:solidFill>
          <a:ln w="12700">
            <a:solidFill>
              <a:schemeClr val="bg2"/>
            </a:solidFill>
            <a:prstDash val="solid"/>
          </a:ln>
        </p:spPr>
      </p:sp>
      <p:sp>
        <p:nvSpPr>
          <p:cNvPr id="29" name="Shape 26"/>
          <p:cNvSpPr/>
          <p:nvPr/>
        </p:nvSpPr>
        <p:spPr>
          <a:xfrm>
            <a:off x="9884664" y="1828800"/>
            <a:ext cx="548640" cy="548640"/>
          </a:xfrm>
          <a:prstGeom prst="ellipse">
            <a:avLst/>
          </a:prstGeom>
          <a:solidFill>
            <a:schemeClr val="accent1"/>
          </a:solidFill>
          <a:ln w="12700">
            <a:solidFill>
              <a:schemeClr val="accent1"/>
            </a:solidFill>
            <a:prstDash val="solid"/>
          </a:ln>
        </p:spPr>
      </p:sp>
      <p:sp>
        <p:nvSpPr>
          <p:cNvPr id="30" name="Text 27"/>
          <p:cNvSpPr txBox="1"/>
          <p:nvPr/>
        </p:nvSpPr>
        <p:spPr>
          <a:xfrm>
            <a:off x="9884664" y="1828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1" name="Text 28"/>
          <p:cNvSpPr txBox="1"/>
          <p:nvPr/>
        </p:nvSpPr>
        <p:spPr>
          <a:xfrm>
            <a:off x="9884664" y="2560320"/>
            <a:ext cx="1554480" cy="411480"/>
          </a:xfrm>
          <a:prstGeom prst="rect">
            <a:avLst/>
          </a:prstGeom>
          <a:noFill/>
          <a:ln/>
        </p:spPr>
        <p:txBody>
          <a:bodyPr wrap="square" lIns="0" tIns="0" rIns="0" bIns="0" rtlCol="0" anchor="t"/>
          <a:lstStyle/>
          <a:p>
            <a:pPr indent="0" marL="0">
              <a:buNone/>
            </a:pPr>
            <a:r>
              <a:rPr lang="en-US" sz="2200" b="1" dirty="0">
                <a:solidFill>
                  <a:schemeClr val="tx1"/>
                </a:solidFill>
              </a:rPr>
              <a:t>Report</a:t>
            </a:r>
            <a:endParaRPr lang="en-US" sz="2200" dirty="0"/>
          </a:p>
        </p:txBody>
      </p:sp>
      <p:sp>
        <p:nvSpPr>
          <p:cNvPr id="32" name="Text 29"/>
          <p:cNvSpPr txBox="1"/>
          <p:nvPr/>
        </p:nvSpPr>
        <p:spPr>
          <a:xfrm>
            <a:off x="9884664" y="3017520"/>
            <a:ext cx="1554480" cy="1005840"/>
          </a:xfrm>
          <a:prstGeom prst="rect">
            <a:avLst/>
          </a:prstGeom>
          <a:noFill/>
          <a:ln/>
        </p:spPr>
        <p:txBody>
          <a:bodyPr wrap="square" lIns="0" tIns="0" rIns="0" bIns="0" rtlCol="0" anchor="t"/>
          <a:lstStyle/>
          <a:p>
            <a:pPr indent="0" marL="0">
              <a:buNone/>
            </a:pPr>
            <a:r>
              <a:rPr lang="en-US" sz="1500" dirty="0">
                <a:solidFill>
                  <a:schemeClr val="accent4"/>
                </a:solidFill>
              </a:rPr>
              <a:t>Copy, or download PDF / PNG</a:t>
            </a:r>
            <a:endParaRPr lang="en-US" sz="1500" dirty="0"/>
          </a:p>
        </p:txBody>
      </p:sp>
      <p:sp>
        <p:nvSpPr>
          <p:cNvPr id="33" name="Shape 30"/>
          <p:cNvSpPr/>
          <p:nvPr/>
        </p:nvSpPr>
        <p:spPr>
          <a:xfrm>
            <a:off x="548640" y="4572000"/>
            <a:ext cx="11064240" cy="1234440"/>
          </a:xfrm>
          <a:prstGeom prst="roundRect">
            <a:avLst>
              <a:gd name="adj" fmla="val 8889"/>
            </a:avLst>
          </a:prstGeom>
          <a:solidFill>
            <a:schemeClr val="accent5"/>
          </a:solidFill>
          <a:ln w="12700">
            <a:solidFill>
              <a:schemeClr val="accent5"/>
            </a:solidFill>
            <a:prstDash val="solid"/>
          </a:ln>
        </p:spPr>
      </p:sp>
      <p:sp>
        <p:nvSpPr>
          <p:cNvPr id="34" name="Text 31"/>
          <p:cNvSpPr txBox="1"/>
          <p:nvPr/>
        </p:nvSpPr>
        <p:spPr>
          <a:xfrm>
            <a:off x="868680" y="4818888"/>
            <a:ext cx="10424160" cy="777240"/>
          </a:xfrm>
          <a:prstGeom prst="rect">
            <a:avLst/>
          </a:prstGeom>
          <a:noFill/>
          <a:ln/>
        </p:spPr>
        <p:txBody>
          <a:bodyPr wrap="square" lIns="0" tIns="0" rIns="0" bIns="0" rtlCol="0" anchor="ctr"/>
          <a:lstStyle/>
          <a:p>
            <a:pPr indent="0" marL="0">
              <a:buNone/>
            </a:pPr>
            <a:r>
              <a:rPr lang="en-US" sz="1800" b="1" dirty="0">
                <a:solidFill>
                  <a:schemeClr val="tx1"/>
                </a:solidFill>
              </a:rPr>
              <a:t>Runs entirely in the browser. </a:t>
            </a:r>
            <a:pPr indent="0" marL="0">
              <a:buNone/>
            </a:pPr>
            <a:r>
              <a:rPr lang="en-US" sz="1800" dirty="0">
                <a:solidFill>
                  <a:schemeClr val="tx1"/>
                </a:solidFill>
              </a:rPr>
              <a:t>The trained model is exported to ONNX and executed with ONNX Runtime Web, so the photo never leaves the device and no server is needed.</a:t>
            </a:r>
            <a:endParaRPr lang="en-US" sz="18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1,025 images, four classes, five public datasets</a:t>
            </a:r>
            <a:endParaRPr lang="en-US" sz="3200" dirty="0"/>
          </a:p>
        </p:txBody>
      </p:sp>
      <p:pic>
        <p:nvPicPr>
          <p:cNvPr id="4" name="Image 0" descr="C:\Users\LEEN TEXTILE\AppData\Local\Temp\claude\c--Users-LEEN-TEXTILE-Desktop-project\fc54ecae-a23f-4005-9127-854e117de4b4\scratchpad\deck\img\good-2.jpg">    </p:cNvPr>
          <p:cNvPicPr>
            <a:picLocks noChangeAspect="1"/>
          </p:cNvPicPr>
          <p:nvPr/>
        </p:nvPicPr>
        <p:blipFill>
          <a:blip r:embed="rId1"/>
          <a:srcRect l="0" r="0" t="0" b="0"/>
          <a:stretch/>
        </p:blipFill>
        <p:spPr>
          <a:xfrm>
            <a:off x="548640" y="1371600"/>
            <a:ext cx="2148840" cy="1874520"/>
          </a:xfrm>
          <a:prstGeom prst="rect">
            <a:avLst/>
          </a:prstGeom>
        </p:spPr>
      </p:pic>
      <p:sp>
        <p:nvSpPr>
          <p:cNvPr id="5" name="Text 1"/>
          <p:cNvSpPr txBox="1"/>
          <p:nvPr/>
        </p:nvSpPr>
        <p:spPr>
          <a:xfrm>
            <a:off x="548640" y="3310128"/>
            <a:ext cx="2148840" cy="320040"/>
          </a:xfrm>
          <a:prstGeom prst="rect">
            <a:avLst/>
          </a:prstGeom>
          <a:noFill/>
          <a:ln/>
        </p:spPr>
        <p:txBody>
          <a:bodyPr wrap="square" lIns="0" tIns="0" rIns="0" bIns="0" rtlCol="0" anchor="t"/>
          <a:lstStyle/>
          <a:p>
            <a:pPr indent="0" marL="0">
              <a:buNone/>
            </a:pPr>
            <a:r>
              <a:rPr lang="en-US" sz="1500" b="1" dirty="0">
                <a:solidFill>
                  <a:schemeClr val="tx1"/>
                </a:solidFill>
              </a:rPr>
              <a:t>Good</a:t>
            </a:r>
            <a:endParaRPr lang="en-US" sz="1500" dirty="0"/>
          </a:p>
        </p:txBody>
      </p:sp>
      <p:pic>
        <p:nvPicPr>
          <p:cNvPr id="6" name="Image 1" descr="C:\Users\LEEN TEXTILE\AppData\Local\Temp\claude\c--Users-LEEN-TEXTILE-Desktop-project\fc54ecae-a23f-4005-9127-854e117de4b4\scratchpad\deck\img\hole-2.jpg">    </p:cNvPr>
          <p:cNvPicPr>
            <a:picLocks noChangeAspect="1"/>
          </p:cNvPicPr>
          <p:nvPr/>
        </p:nvPicPr>
        <p:blipFill>
          <a:blip r:embed="rId2"/>
          <a:srcRect l="0" r="0" t="0" b="0"/>
          <a:stretch/>
        </p:blipFill>
        <p:spPr>
          <a:xfrm>
            <a:off x="2880360" y="1371600"/>
            <a:ext cx="2148840" cy="1874520"/>
          </a:xfrm>
          <a:prstGeom prst="rect">
            <a:avLst/>
          </a:prstGeom>
        </p:spPr>
      </p:pic>
      <p:sp>
        <p:nvSpPr>
          <p:cNvPr id="7" name="Text 2"/>
          <p:cNvSpPr txBox="1"/>
          <p:nvPr/>
        </p:nvSpPr>
        <p:spPr>
          <a:xfrm>
            <a:off x="2880360" y="3310128"/>
            <a:ext cx="2148840" cy="320040"/>
          </a:xfrm>
          <a:prstGeom prst="rect">
            <a:avLst/>
          </a:prstGeom>
          <a:noFill/>
          <a:ln/>
        </p:spPr>
        <p:txBody>
          <a:bodyPr wrap="square" lIns="0" tIns="0" rIns="0" bIns="0" rtlCol="0" anchor="t"/>
          <a:lstStyle/>
          <a:p>
            <a:pPr indent="0" marL="0">
              <a:buNone/>
            </a:pPr>
            <a:r>
              <a:rPr lang="en-US" sz="1500" b="1" dirty="0">
                <a:solidFill>
                  <a:schemeClr val="tx1"/>
                </a:solidFill>
              </a:rPr>
              <a:t>Hole</a:t>
            </a:r>
            <a:endParaRPr lang="en-US" sz="1500" dirty="0"/>
          </a:p>
        </p:txBody>
      </p:sp>
      <p:pic>
        <p:nvPicPr>
          <p:cNvPr id="8" name="Image 2" descr="C:\Users\LEEN TEXTILE\AppData\Local\Temp\claude\c--Users-LEEN-TEXTILE-Desktop-project\fc54ecae-a23f-4005-9127-854e117de4b4\scratchpad\deck\img\stain-2.jpg">    </p:cNvPr>
          <p:cNvPicPr>
            <a:picLocks noChangeAspect="1"/>
          </p:cNvPicPr>
          <p:nvPr/>
        </p:nvPicPr>
        <p:blipFill>
          <a:blip r:embed="rId3"/>
          <a:srcRect l="0" r="0" t="0" b="0"/>
          <a:stretch/>
        </p:blipFill>
        <p:spPr>
          <a:xfrm>
            <a:off x="548640" y="3794760"/>
            <a:ext cx="2148840" cy="1874520"/>
          </a:xfrm>
          <a:prstGeom prst="rect">
            <a:avLst/>
          </a:prstGeom>
        </p:spPr>
      </p:pic>
      <p:sp>
        <p:nvSpPr>
          <p:cNvPr id="9" name="Text 3"/>
          <p:cNvSpPr txBox="1"/>
          <p:nvPr/>
        </p:nvSpPr>
        <p:spPr>
          <a:xfrm>
            <a:off x="548640" y="5733288"/>
            <a:ext cx="2148840" cy="320040"/>
          </a:xfrm>
          <a:prstGeom prst="rect">
            <a:avLst/>
          </a:prstGeom>
          <a:noFill/>
          <a:ln/>
        </p:spPr>
        <p:txBody>
          <a:bodyPr wrap="square" lIns="0" tIns="0" rIns="0" bIns="0" rtlCol="0" anchor="t"/>
          <a:lstStyle/>
          <a:p>
            <a:pPr indent="0" marL="0">
              <a:buNone/>
            </a:pPr>
            <a:r>
              <a:rPr lang="en-US" sz="1500" b="1" dirty="0">
                <a:solidFill>
                  <a:schemeClr val="tx1"/>
                </a:solidFill>
              </a:rPr>
              <a:t>Stain</a:t>
            </a:r>
            <a:endParaRPr lang="en-US" sz="1500" dirty="0"/>
          </a:p>
        </p:txBody>
      </p:sp>
      <p:pic>
        <p:nvPicPr>
          <p:cNvPr id="10" name="Image 3" descr="C:\Users\LEEN TEXTILE\AppData\Local\Temp\claude\c--Users-LEEN-TEXTILE-Desktop-project\fc54ecae-a23f-4005-9127-854e117de4b4\scratchpad\deck\img\broken_thread-1.jpg">    </p:cNvPr>
          <p:cNvPicPr>
            <a:picLocks noChangeAspect="1"/>
          </p:cNvPicPr>
          <p:nvPr/>
        </p:nvPicPr>
        <p:blipFill>
          <a:blip r:embed="rId4"/>
          <a:srcRect l="0" r="0" t="0" b="0"/>
          <a:stretch/>
        </p:blipFill>
        <p:spPr>
          <a:xfrm>
            <a:off x="2880360" y="3794760"/>
            <a:ext cx="2148840" cy="1874520"/>
          </a:xfrm>
          <a:prstGeom prst="rect">
            <a:avLst/>
          </a:prstGeom>
        </p:spPr>
      </p:pic>
      <p:sp>
        <p:nvSpPr>
          <p:cNvPr id="11" name="Text 4"/>
          <p:cNvSpPr txBox="1"/>
          <p:nvPr/>
        </p:nvSpPr>
        <p:spPr>
          <a:xfrm>
            <a:off x="2880360" y="5733288"/>
            <a:ext cx="2148840" cy="320040"/>
          </a:xfrm>
          <a:prstGeom prst="rect">
            <a:avLst/>
          </a:prstGeom>
          <a:noFill/>
          <a:ln/>
        </p:spPr>
        <p:txBody>
          <a:bodyPr wrap="square" lIns="0" tIns="0" rIns="0" bIns="0" rtlCol="0" anchor="t"/>
          <a:lstStyle/>
          <a:p>
            <a:pPr indent="0" marL="0">
              <a:buNone/>
            </a:pPr>
            <a:r>
              <a:rPr lang="en-US" sz="1500" b="1" dirty="0">
                <a:solidFill>
                  <a:schemeClr val="tx1"/>
                </a:solidFill>
              </a:rPr>
              <a:t>Broken thread</a:t>
            </a:r>
            <a:endParaRPr lang="en-US" sz="1500" dirty="0"/>
          </a:p>
        </p:txBody>
      </p:sp>
      <p:graphicFrame>
        <p:nvGraphicFramePr>
          <p:cNvPr id="12" name="Chart 0" descr=""/>
          <p:cNvGraphicFramePr/>
          <p:nvPr/>
        </p:nvGraphicFramePr>
        <p:xfrm>
          <a:off x="5486400" y="1325880"/>
          <a:ext cx="6126480" cy="3566160"/>
        </p:xfrm>
        <a:graphic xmlns:a="http://schemas.openxmlformats.org/drawingml/2006/main">
          <a:graphicData uri="http://schemas.openxmlformats.org/drawingml/2006/chart">
            <c:chart xmlns:c="http://schemas.openxmlformats.org/drawingml/2006/chart" r:id="rId5"/>
          </a:graphicData>
        </a:graphic>
      </p:graphicFrame>
      <p:sp>
        <p:nvSpPr>
          <p:cNvPr id="13" name="Text 5"/>
          <p:cNvSpPr txBox="1"/>
          <p:nvPr/>
        </p:nvSpPr>
        <p:spPr>
          <a:xfrm>
            <a:off x="5486400" y="5029200"/>
            <a:ext cx="6126480" cy="1097280"/>
          </a:xfrm>
          <a:prstGeom prst="rect">
            <a:avLst/>
          </a:prstGeom>
          <a:noFill/>
          <a:ln/>
        </p:spPr>
        <p:txBody>
          <a:bodyPr wrap="square" lIns="0" tIns="0" rIns="0" bIns="0" rtlCol="0" anchor="t"/>
          <a:lstStyle/>
          <a:p>
            <a:pPr indent="0" marL="0">
              <a:buNone/>
            </a:pPr>
            <a:r>
              <a:rPr lang="en-US" sz="1200" b="1" dirty="0">
                <a:solidFill>
                  <a:schemeClr val="accent4"/>
                </a:solidFill>
              </a:rPr>
              <a:t>Kaggle sources: </a:t>
            </a:r>
            <a:pPr indent="0" marL="0">
              <a:buNone/>
            </a:pPr>
            <a:r>
              <a:rPr lang="en-US" sz="1200" dirty="0">
                <a:solidFill>
                  <a:schemeClr val="accent4"/>
                </a:solidFill>
              </a:rPr>
              <a:t>Fabric Defect (without augmentation) (CC BY 4.0)  ·  Clothes Stain/Defect Detection (CC BY 4.0)  ·  Fabric Defects Dataset (CC BY 4.0)  ·  StitchingNet (CC BY-NC 4.0)  ·  People Clothing Segmentation (CC0)</a:t>
            </a:r>
            <a:endParaRPr lang="en-US" sz="12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From raw downloads to a clean, leak-free split</a:t>
            </a:r>
            <a:endParaRPr lang="en-US" sz="3200" dirty="0"/>
          </a:p>
        </p:txBody>
      </p:sp>
      <p:sp>
        <p:nvSpPr>
          <p:cNvPr id="4" name="Shape 1"/>
          <p:cNvSpPr/>
          <p:nvPr/>
        </p:nvSpPr>
        <p:spPr>
          <a:xfrm>
            <a:off x="548640" y="1417320"/>
            <a:ext cx="2606040" cy="2514600"/>
          </a:xfrm>
          <a:prstGeom prst="roundRect">
            <a:avLst>
              <a:gd name="adj" fmla="val 4364"/>
            </a:avLst>
          </a:prstGeom>
          <a:solidFill>
            <a:schemeClr val="bg2"/>
          </a:solidFill>
          <a:ln w="12700">
            <a:solidFill>
              <a:schemeClr val="bg2"/>
            </a:solidFill>
            <a:prstDash val="solid"/>
          </a:ln>
        </p:spPr>
      </p:sp>
      <p:sp>
        <p:nvSpPr>
          <p:cNvPr id="5" name="Shape 2"/>
          <p:cNvSpPr/>
          <p:nvPr/>
        </p:nvSpPr>
        <p:spPr>
          <a:xfrm>
            <a:off x="777240" y="1645920"/>
            <a:ext cx="548640" cy="548640"/>
          </a:xfrm>
          <a:prstGeom prst="ellipse">
            <a:avLst/>
          </a:prstGeom>
          <a:solidFill>
            <a:schemeClr val="accent1"/>
          </a:solidFill>
          <a:ln w="12700">
            <a:solidFill>
              <a:schemeClr val="accent1"/>
            </a:solidFill>
            <a:prstDash val="solid"/>
          </a:ln>
        </p:spPr>
      </p:sp>
      <p:sp>
        <p:nvSpPr>
          <p:cNvPr id="6" name="Text 3"/>
          <p:cNvSpPr txBox="1"/>
          <p:nvPr/>
        </p:nvSpPr>
        <p:spPr>
          <a:xfrm>
            <a:off x="77724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777240" y="2331720"/>
            <a:ext cx="2148840" cy="411480"/>
          </a:xfrm>
          <a:prstGeom prst="rect">
            <a:avLst/>
          </a:prstGeom>
          <a:noFill/>
          <a:ln/>
        </p:spPr>
        <p:txBody>
          <a:bodyPr wrap="square" lIns="0" tIns="0" rIns="0" bIns="0" rtlCol="0" anchor="t"/>
          <a:lstStyle/>
          <a:p>
            <a:pPr indent="0" marL="0">
              <a:buNone/>
            </a:pPr>
            <a:r>
              <a:rPr lang="en-US" sz="2200" b="1" dirty="0">
                <a:solidFill>
                  <a:schemeClr val="tx1"/>
                </a:solidFill>
              </a:rPr>
              <a:t>Import</a:t>
            </a:r>
            <a:endParaRPr lang="en-US" sz="2200" dirty="0"/>
          </a:p>
        </p:txBody>
      </p:sp>
      <p:sp>
        <p:nvSpPr>
          <p:cNvPr id="8" name="Text 5"/>
          <p:cNvSpPr txBox="1"/>
          <p:nvPr/>
        </p:nvSpPr>
        <p:spPr>
          <a:xfrm>
            <a:off x="777240" y="2788920"/>
            <a:ext cx="2148840" cy="1051560"/>
          </a:xfrm>
          <a:prstGeom prst="rect">
            <a:avLst/>
          </a:prstGeom>
          <a:noFill/>
          <a:ln/>
        </p:spPr>
        <p:txBody>
          <a:bodyPr wrap="square" lIns="0" tIns="0" rIns="0" bIns="0" rtlCol="0" anchor="t"/>
          <a:lstStyle/>
          <a:p>
            <a:pPr indent="0" marL="0">
              <a:buNone/>
            </a:pPr>
            <a:r>
              <a:rPr lang="en-US" sz="1500" dirty="0">
                <a:solidFill>
                  <a:schemeClr val="accent4"/>
                </a:solidFill>
              </a:rPr>
              <a:t>Defect boxes cut into square close-ups; clean garments cropped with clothing masks.</a:t>
            </a:r>
            <a:endParaRPr lang="en-US" sz="1500" dirty="0"/>
          </a:p>
        </p:txBody>
      </p:sp>
      <p:sp>
        <p:nvSpPr>
          <p:cNvPr id="9" name="Shape 6"/>
          <p:cNvSpPr/>
          <p:nvPr/>
        </p:nvSpPr>
        <p:spPr>
          <a:xfrm>
            <a:off x="3367735" y="1417320"/>
            <a:ext cx="2606040" cy="2514600"/>
          </a:xfrm>
          <a:prstGeom prst="roundRect">
            <a:avLst>
              <a:gd name="adj" fmla="val 4364"/>
            </a:avLst>
          </a:prstGeom>
          <a:solidFill>
            <a:schemeClr val="bg2"/>
          </a:solidFill>
          <a:ln w="12700">
            <a:solidFill>
              <a:schemeClr val="bg2"/>
            </a:solidFill>
            <a:prstDash val="solid"/>
          </a:ln>
        </p:spPr>
      </p:sp>
      <p:sp>
        <p:nvSpPr>
          <p:cNvPr id="10" name="Shape 7"/>
          <p:cNvSpPr/>
          <p:nvPr/>
        </p:nvSpPr>
        <p:spPr>
          <a:xfrm>
            <a:off x="3596335" y="1645920"/>
            <a:ext cx="548640" cy="548640"/>
          </a:xfrm>
          <a:prstGeom prst="ellipse">
            <a:avLst/>
          </a:prstGeom>
          <a:solidFill>
            <a:schemeClr val="accent1"/>
          </a:solidFill>
          <a:ln w="12700">
            <a:solidFill>
              <a:schemeClr val="accent1"/>
            </a:solidFill>
            <a:prstDash val="solid"/>
          </a:ln>
        </p:spPr>
      </p:sp>
      <p:sp>
        <p:nvSpPr>
          <p:cNvPr id="11" name="Text 8"/>
          <p:cNvSpPr txBox="1"/>
          <p:nvPr/>
        </p:nvSpPr>
        <p:spPr>
          <a:xfrm>
            <a:off x="3596335"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3596335" y="2331720"/>
            <a:ext cx="2148840" cy="411480"/>
          </a:xfrm>
          <a:prstGeom prst="rect">
            <a:avLst/>
          </a:prstGeom>
          <a:noFill/>
          <a:ln/>
        </p:spPr>
        <p:txBody>
          <a:bodyPr wrap="square" lIns="0" tIns="0" rIns="0" bIns="0" rtlCol="0" anchor="t"/>
          <a:lstStyle/>
          <a:p>
            <a:pPr indent="0" marL="0">
              <a:buNone/>
            </a:pPr>
            <a:r>
              <a:rPr lang="en-US" sz="2200" b="1" dirty="0">
                <a:solidFill>
                  <a:schemeClr val="tx1"/>
                </a:solidFill>
              </a:rPr>
              <a:t>Clean</a:t>
            </a:r>
            <a:endParaRPr lang="en-US" sz="2200" dirty="0"/>
          </a:p>
        </p:txBody>
      </p:sp>
      <p:sp>
        <p:nvSpPr>
          <p:cNvPr id="13" name="Text 10"/>
          <p:cNvSpPr txBox="1"/>
          <p:nvPr/>
        </p:nvSpPr>
        <p:spPr>
          <a:xfrm>
            <a:off x="3596335" y="2788920"/>
            <a:ext cx="2148840" cy="1051560"/>
          </a:xfrm>
          <a:prstGeom prst="rect">
            <a:avLst/>
          </a:prstGeom>
          <a:noFill/>
          <a:ln/>
        </p:spPr>
        <p:txBody>
          <a:bodyPr wrap="square" lIns="0" tIns="0" rIns="0" bIns="0" rtlCol="0" anchor="t"/>
          <a:lstStyle/>
          <a:p>
            <a:pPr indent="0" marL="0">
              <a:buNone/>
            </a:pPr>
            <a:r>
              <a:rPr lang="en-US" sz="1500" dirty="0">
                <a:solidFill>
                  <a:schemeClr val="accent4"/>
                </a:solidFill>
              </a:rPr>
              <a:t>Corrupt, tiny and duplicate images removed (53); square 256 px, EXIF stripped.</a:t>
            </a:r>
            <a:endParaRPr lang="en-US" sz="1500" dirty="0"/>
          </a:p>
        </p:txBody>
      </p:sp>
      <p:sp>
        <p:nvSpPr>
          <p:cNvPr id="14" name="Shape 11"/>
          <p:cNvSpPr/>
          <p:nvPr/>
        </p:nvSpPr>
        <p:spPr>
          <a:xfrm>
            <a:off x="6186830" y="1417320"/>
            <a:ext cx="2606040" cy="2514600"/>
          </a:xfrm>
          <a:prstGeom prst="roundRect">
            <a:avLst>
              <a:gd name="adj" fmla="val 4364"/>
            </a:avLst>
          </a:prstGeom>
          <a:solidFill>
            <a:schemeClr val="bg2"/>
          </a:solidFill>
          <a:ln w="12700">
            <a:solidFill>
              <a:schemeClr val="bg2"/>
            </a:solidFill>
            <a:prstDash val="solid"/>
          </a:ln>
        </p:spPr>
      </p:sp>
      <p:sp>
        <p:nvSpPr>
          <p:cNvPr id="15" name="Shape 12"/>
          <p:cNvSpPr/>
          <p:nvPr/>
        </p:nvSpPr>
        <p:spPr>
          <a:xfrm>
            <a:off x="6415430" y="1645920"/>
            <a:ext cx="548640" cy="548640"/>
          </a:xfrm>
          <a:prstGeom prst="ellipse">
            <a:avLst/>
          </a:prstGeom>
          <a:solidFill>
            <a:schemeClr val="accent1"/>
          </a:solidFill>
          <a:ln w="12700">
            <a:solidFill>
              <a:schemeClr val="accent1"/>
            </a:solidFill>
            <a:prstDash val="solid"/>
          </a:ln>
        </p:spPr>
      </p:sp>
      <p:sp>
        <p:nvSpPr>
          <p:cNvPr id="16" name="Text 13"/>
          <p:cNvSpPr txBox="1"/>
          <p:nvPr/>
        </p:nvSpPr>
        <p:spPr>
          <a:xfrm>
            <a:off x="641543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6415430" y="2331720"/>
            <a:ext cx="2148840" cy="411480"/>
          </a:xfrm>
          <a:prstGeom prst="rect">
            <a:avLst/>
          </a:prstGeom>
          <a:noFill/>
          <a:ln/>
        </p:spPr>
        <p:txBody>
          <a:bodyPr wrap="square" lIns="0" tIns="0" rIns="0" bIns="0" rtlCol="0" anchor="t"/>
          <a:lstStyle/>
          <a:p>
            <a:pPr indent="0" marL="0">
              <a:buNone/>
            </a:pPr>
            <a:r>
              <a:rPr lang="en-US" sz="2200" b="1" dirty="0">
                <a:solidFill>
                  <a:schemeClr val="tx1"/>
                </a:solidFill>
              </a:rPr>
              <a:t>Split</a:t>
            </a:r>
            <a:endParaRPr lang="en-US" sz="2200" dirty="0"/>
          </a:p>
        </p:txBody>
      </p:sp>
      <p:sp>
        <p:nvSpPr>
          <p:cNvPr id="18" name="Text 15"/>
          <p:cNvSpPr txBox="1"/>
          <p:nvPr/>
        </p:nvSpPr>
        <p:spPr>
          <a:xfrm>
            <a:off x="6415430" y="2788920"/>
            <a:ext cx="2148840" cy="1051560"/>
          </a:xfrm>
          <a:prstGeom prst="rect">
            <a:avLst/>
          </a:prstGeom>
          <a:noFill/>
          <a:ln/>
        </p:spPr>
        <p:txBody>
          <a:bodyPr wrap="square" lIns="0" tIns="0" rIns="0" bIns="0" rtlCol="0" anchor="t"/>
          <a:lstStyle/>
          <a:p>
            <a:pPr indent="0" marL="0">
              <a:buNone/>
            </a:pPr>
            <a:r>
              <a:rPr lang="en-US" sz="1500" dirty="0">
                <a:solidFill>
                  <a:schemeClr val="accent4"/>
                </a:solidFill>
              </a:rPr>
              <a:t>70 / 15 / 15 by source image, then a leakage audit across the splits.</a:t>
            </a:r>
            <a:endParaRPr lang="en-US" sz="1500" dirty="0"/>
          </a:p>
        </p:txBody>
      </p:sp>
      <p:sp>
        <p:nvSpPr>
          <p:cNvPr id="19" name="Shape 16"/>
          <p:cNvSpPr/>
          <p:nvPr/>
        </p:nvSpPr>
        <p:spPr>
          <a:xfrm>
            <a:off x="9005926" y="1417320"/>
            <a:ext cx="2606040" cy="2514600"/>
          </a:xfrm>
          <a:prstGeom prst="roundRect">
            <a:avLst>
              <a:gd name="adj" fmla="val 4364"/>
            </a:avLst>
          </a:prstGeom>
          <a:solidFill>
            <a:schemeClr val="bg2"/>
          </a:solidFill>
          <a:ln w="12700">
            <a:solidFill>
              <a:schemeClr val="bg2"/>
            </a:solidFill>
            <a:prstDash val="solid"/>
          </a:ln>
        </p:spPr>
      </p:sp>
      <p:sp>
        <p:nvSpPr>
          <p:cNvPr id="20" name="Shape 17"/>
          <p:cNvSpPr/>
          <p:nvPr/>
        </p:nvSpPr>
        <p:spPr>
          <a:xfrm>
            <a:off x="9234526" y="1645920"/>
            <a:ext cx="548640" cy="548640"/>
          </a:xfrm>
          <a:prstGeom prst="ellipse">
            <a:avLst/>
          </a:prstGeom>
          <a:solidFill>
            <a:schemeClr val="accent1"/>
          </a:solidFill>
          <a:ln w="12700">
            <a:solidFill>
              <a:schemeClr val="accent1"/>
            </a:solidFill>
            <a:prstDash val="solid"/>
          </a:ln>
        </p:spPr>
      </p:sp>
      <p:sp>
        <p:nvSpPr>
          <p:cNvPr id="21" name="Text 18"/>
          <p:cNvSpPr txBox="1"/>
          <p:nvPr/>
        </p:nvSpPr>
        <p:spPr>
          <a:xfrm>
            <a:off x="9234526"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19"/>
          <p:cNvSpPr txBox="1"/>
          <p:nvPr/>
        </p:nvSpPr>
        <p:spPr>
          <a:xfrm>
            <a:off x="9234526" y="2331720"/>
            <a:ext cx="2148840" cy="411480"/>
          </a:xfrm>
          <a:prstGeom prst="rect">
            <a:avLst/>
          </a:prstGeom>
          <a:noFill/>
          <a:ln/>
        </p:spPr>
        <p:txBody>
          <a:bodyPr wrap="square" lIns="0" tIns="0" rIns="0" bIns="0" rtlCol="0" anchor="t"/>
          <a:lstStyle/>
          <a:p>
            <a:pPr indent="0" marL="0">
              <a:buNone/>
            </a:pPr>
            <a:r>
              <a:rPr lang="en-US" sz="2200" b="1" dirty="0">
                <a:solidFill>
                  <a:schemeClr val="tx1"/>
                </a:solidFill>
              </a:rPr>
              <a:t>Augment</a:t>
            </a:r>
            <a:endParaRPr lang="en-US" sz="2200" dirty="0"/>
          </a:p>
        </p:txBody>
      </p:sp>
      <p:sp>
        <p:nvSpPr>
          <p:cNvPr id="23" name="Text 20"/>
          <p:cNvSpPr txBox="1"/>
          <p:nvPr/>
        </p:nvSpPr>
        <p:spPr>
          <a:xfrm>
            <a:off x="9234526" y="2788920"/>
            <a:ext cx="2148840" cy="1051560"/>
          </a:xfrm>
          <a:prstGeom prst="rect">
            <a:avLst/>
          </a:prstGeom>
          <a:noFill/>
          <a:ln/>
        </p:spPr>
        <p:txBody>
          <a:bodyPr wrap="square" lIns="0" tIns="0" rIns="0" bIns="0" rtlCol="0" anchor="t"/>
          <a:lstStyle/>
          <a:p>
            <a:pPr indent="0" marL="0">
              <a:buNone/>
            </a:pPr>
            <a:r>
              <a:rPr lang="en-US" sz="1500" dirty="0">
                <a:solidFill>
                  <a:schemeClr val="accent4"/>
                </a:solidFill>
              </a:rPr>
              <a:t>Rotation, zoom, flips, 90° turns, brightness, contrast and noise. No hue changes.</a:t>
            </a:r>
            <a:endParaRPr lang="en-US" sz="1500" dirty="0"/>
          </a:p>
        </p:txBody>
      </p:sp>
      <p:sp>
        <p:nvSpPr>
          <p:cNvPr id="24" name="Text 21"/>
          <p:cNvSpPr txBox="1"/>
          <p:nvPr/>
        </p:nvSpPr>
        <p:spPr>
          <a:xfrm>
            <a:off x="548640" y="4343400"/>
            <a:ext cx="3474720" cy="914400"/>
          </a:xfrm>
          <a:prstGeom prst="rect">
            <a:avLst/>
          </a:prstGeom>
          <a:noFill/>
          <a:ln/>
        </p:spPr>
        <p:txBody>
          <a:bodyPr wrap="square" lIns="0" tIns="0" rIns="0" bIns="0" rtlCol="0" anchor="t"/>
          <a:lstStyle/>
          <a:p>
            <a:pPr indent="0" marL="0">
              <a:buNone/>
            </a:pPr>
            <a:r>
              <a:rPr lang="en-US" sz="5400" b="1" dirty="0">
                <a:solidFill>
                  <a:schemeClr val="accent1"/>
                </a:solidFill>
              </a:rPr>
              <a:t>715</a:t>
            </a:r>
            <a:endParaRPr lang="en-US" sz="5400" dirty="0"/>
          </a:p>
        </p:txBody>
      </p:sp>
      <p:sp>
        <p:nvSpPr>
          <p:cNvPr id="25" name="Text 22"/>
          <p:cNvSpPr txBox="1"/>
          <p:nvPr/>
        </p:nvSpPr>
        <p:spPr>
          <a:xfrm>
            <a:off x="548640" y="5257800"/>
            <a:ext cx="3474720" cy="365760"/>
          </a:xfrm>
          <a:prstGeom prst="rect">
            <a:avLst/>
          </a:prstGeom>
          <a:noFill/>
          <a:ln/>
        </p:spPr>
        <p:txBody>
          <a:bodyPr wrap="square" lIns="0" tIns="0" rIns="0" bIns="0" rtlCol="0" anchor="t"/>
          <a:lstStyle/>
          <a:p>
            <a:pPr indent="0" marL="0">
              <a:buNone/>
            </a:pPr>
            <a:r>
              <a:rPr lang="en-US" sz="1600" dirty="0">
                <a:solidFill>
                  <a:schemeClr val="accent4"/>
                </a:solidFill>
              </a:rPr>
              <a:t>training images</a:t>
            </a:r>
            <a:endParaRPr lang="en-US" sz="1600" dirty="0"/>
          </a:p>
        </p:txBody>
      </p:sp>
      <p:sp>
        <p:nvSpPr>
          <p:cNvPr id="26" name="Text 23"/>
          <p:cNvSpPr txBox="1"/>
          <p:nvPr/>
        </p:nvSpPr>
        <p:spPr>
          <a:xfrm>
            <a:off x="4297680" y="4343400"/>
            <a:ext cx="3474720" cy="914400"/>
          </a:xfrm>
          <a:prstGeom prst="rect">
            <a:avLst/>
          </a:prstGeom>
          <a:noFill/>
          <a:ln/>
        </p:spPr>
        <p:txBody>
          <a:bodyPr wrap="square" lIns="0" tIns="0" rIns="0" bIns="0" rtlCol="0" anchor="t"/>
          <a:lstStyle/>
          <a:p>
            <a:pPr indent="0" marL="0">
              <a:buNone/>
            </a:pPr>
            <a:r>
              <a:rPr lang="en-US" sz="5400" b="1" dirty="0">
                <a:solidFill>
                  <a:schemeClr val="accent1"/>
                </a:solidFill>
              </a:rPr>
              <a:t>155</a:t>
            </a:r>
            <a:endParaRPr lang="en-US" sz="5400" dirty="0"/>
          </a:p>
        </p:txBody>
      </p:sp>
      <p:sp>
        <p:nvSpPr>
          <p:cNvPr id="27" name="Text 24"/>
          <p:cNvSpPr txBox="1"/>
          <p:nvPr/>
        </p:nvSpPr>
        <p:spPr>
          <a:xfrm>
            <a:off x="4297680" y="5257800"/>
            <a:ext cx="3474720" cy="365760"/>
          </a:xfrm>
          <a:prstGeom prst="rect">
            <a:avLst/>
          </a:prstGeom>
          <a:noFill/>
          <a:ln/>
        </p:spPr>
        <p:txBody>
          <a:bodyPr wrap="square" lIns="0" tIns="0" rIns="0" bIns="0" rtlCol="0" anchor="t"/>
          <a:lstStyle/>
          <a:p>
            <a:pPr indent="0" marL="0">
              <a:buNone/>
            </a:pPr>
            <a:r>
              <a:rPr lang="en-US" sz="1600" dirty="0">
                <a:solidFill>
                  <a:schemeClr val="accent4"/>
                </a:solidFill>
              </a:rPr>
              <a:t>validation images</a:t>
            </a:r>
            <a:endParaRPr lang="en-US" sz="1600" dirty="0"/>
          </a:p>
        </p:txBody>
      </p:sp>
      <p:sp>
        <p:nvSpPr>
          <p:cNvPr id="28" name="Text 25"/>
          <p:cNvSpPr txBox="1"/>
          <p:nvPr/>
        </p:nvSpPr>
        <p:spPr>
          <a:xfrm>
            <a:off x="8046720" y="4343400"/>
            <a:ext cx="3474720" cy="914400"/>
          </a:xfrm>
          <a:prstGeom prst="rect">
            <a:avLst/>
          </a:prstGeom>
          <a:noFill/>
          <a:ln/>
        </p:spPr>
        <p:txBody>
          <a:bodyPr wrap="square" lIns="0" tIns="0" rIns="0" bIns="0" rtlCol="0" anchor="t"/>
          <a:lstStyle/>
          <a:p>
            <a:pPr indent="0" marL="0">
              <a:buNone/>
            </a:pPr>
            <a:r>
              <a:rPr lang="en-US" sz="5400" b="1" dirty="0">
                <a:solidFill>
                  <a:schemeClr val="accent1"/>
                </a:solidFill>
              </a:rPr>
              <a:t>155</a:t>
            </a:r>
            <a:endParaRPr lang="en-US" sz="5400" dirty="0"/>
          </a:p>
        </p:txBody>
      </p:sp>
      <p:sp>
        <p:nvSpPr>
          <p:cNvPr id="29" name="Text 26"/>
          <p:cNvSpPr txBox="1"/>
          <p:nvPr/>
        </p:nvSpPr>
        <p:spPr>
          <a:xfrm>
            <a:off x="8046720" y="5257800"/>
            <a:ext cx="3474720" cy="365760"/>
          </a:xfrm>
          <a:prstGeom prst="rect">
            <a:avLst/>
          </a:prstGeom>
          <a:noFill/>
          <a:ln/>
        </p:spPr>
        <p:txBody>
          <a:bodyPr wrap="square" lIns="0" tIns="0" rIns="0" bIns="0" rtlCol="0" anchor="t"/>
          <a:lstStyle/>
          <a:p>
            <a:pPr indent="0" marL="0">
              <a:buNone/>
            </a:pPr>
            <a:r>
              <a:rPr lang="en-US" sz="1600" dirty="0">
                <a:solidFill>
                  <a:schemeClr val="accent4"/>
                </a:solidFill>
              </a:rPr>
              <a:t>test images (never trained on)</a:t>
            </a:r>
            <a:endParaRPr lang="en-US" sz="1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Testing exposed two shortcuts, fixed in the data</a:t>
            </a:r>
            <a:endParaRPr lang="en-US" sz="3200" dirty="0"/>
          </a:p>
        </p:txBody>
      </p:sp>
      <p:sp>
        <p:nvSpPr>
          <p:cNvPr id="4" name="Shape 1"/>
          <p:cNvSpPr/>
          <p:nvPr/>
        </p:nvSpPr>
        <p:spPr>
          <a:xfrm>
            <a:off x="548640" y="1371600"/>
            <a:ext cx="3703320" cy="4526280"/>
          </a:xfrm>
          <a:prstGeom prst="roundRect">
            <a:avLst>
              <a:gd name="adj" fmla="val 2963"/>
            </a:avLst>
          </a:prstGeom>
          <a:solidFill>
            <a:schemeClr val="bg2"/>
          </a:solidFill>
          <a:ln w="12700">
            <a:solidFill>
              <a:schemeClr val="bg2"/>
            </a:solidFill>
            <a:prstDash val="solid"/>
          </a:ln>
        </p:spPr>
      </p:sp>
      <p:pic>
        <p:nvPicPr>
          <p:cNvPr id="5" name="Image 0" descr="C:\Users\LEEN TEXTILE\AppData\Local\Temp\claude\c--Users-LEEN-TEXTILE-Desktop-project\fc54ecae-a23f-4005-9127-854e117de4b4\scratchpad\deck\img\worn_good.jpg">    </p:cNvPr>
          <p:cNvPicPr>
            <a:picLocks noChangeAspect="1"/>
          </p:cNvPicPr>
          <p:nvPr/>
        </p:nvPicPr>
        <p:blipFill>
          <a:blip r:embed="rId1"/>
          <a:srcRect l="0" r="0" t="0" b="0"/>
          <a:stretch/>
        </p:blipFill>
        <p:spPr>
          <a:xfrm>
            <a:off x="777240" y="1600200"/>
            <a:ext cx="1325880" cy="1325880"/>
          </a:xfrm>
          <a:prstGeom prst="rect">
            <a:avLst/>
          </a:prstGeom>
        </p:spPr>
      </p:pic>
      <p:sp>
        <p:nvSpPr>
          <p:cNvPr id="6" name="Text 2"/>
          <p:cNvSpPr txBox="1"/>
          <p:nvPr/>
        </p:nvSpPr>
        <p:spPr>
          <a:xfrm>
            <a:off x="2286000" y="1645920"/>
            <a:ext cx="1828800" cy="320040"/>
          </a:xfrm>
          <a:prstGeom prst="rect">
            <a:avLst/>
          </a:prstGeom>
          <a:noFill/>
          <a:ln/>
        </p:spPr>
        <p:txBody>
          <a:bodyPr wrap="square" lIns="0" tIns="0" rIns="0" bIns="0" rtlCol="0" anchor="t"/>
          <a:lstStyle/>
          <a:p>
            <a:pPr indent="0" marL="0">
              <a:buNone/>
            </a:pPr>
            <a:r>
              <a:rPr lang="en-US" sz="1400" b="1" dirty="0">
                <a:solidFill>
                  <a:schemeClr val="accent2"/>
                </a:solidFill>
              </a:rPr>
              <a:t>Shortcut 1</a:t>
            </a:r>
            <a:endParaRPr lang="en-US" sz="1400" dirty="0"/>
          </a:p>
        </p:txBody>
      </p:sp>
      <p:sp>
        <p:nvSpPr>
          <p:cNvPr id="7" name="Text 3"/>
          <p:cNvSpPr txBox="1"/>
          <p:nvPr/>
        </p:nvSpPr>
        <p:spPr>
          <a:xfrm>
            <a:off x="2286000" y="1965960"/>
            <a:ext cx="1828800" cy="914400"/>
          </a:xfrm>
          <a:prstGeom prst="rect">
            <a:avLst/>
          </a:prstGeom>
          <a:noFill/>
          <a:ln/>
        </p:spPr>
        <p:txBody>
          <a:bodyPr wrap="square" lIns="0" tIns="0" rIns="0" bIns="0" rtlCol="0" anchor="t"/>
          <a:lstStyle/>
          <a:p>
            <a:pPr indent="0" marL="0">
              <a:buNone/>
            </a:pPr>
            <a:r>
              <a:rPr lang="en-US" sz="1800" b="1" dirty="0">
                <a:solidFill>
                  <a:schemeClr val="tx1"/>
                </a:solidFill>
              </a:rPr>
              <a:t>“A photo of a shirt = stain”</a:t>
            </a:r>
            <a:endParaRPr lang="en-US" sz="1800" dirty="0"/>
          </a:p>
        </p:txBody>
      </p:sp>
      <p:sp>
        <p:nvSpPr>
          <p:cNvPr id="8" name="Text 4"/>
          <p:cNvSpPr txBox="1"/>
          <p:nvPr/>
        </p:nvSpPr>
        <p:spPr>
          <a:xfrm>
            <a:off x="777240" y="3108960"/>
            <a:ext cx="3246120" cy="1371600"/>
          </a:xfrm>
          <a:prstGeom prst="rect">
            <a:avLst/>
          </a:prstGeom>
          <a:noFill/>
          <a:ln/>
        </p:spPr>
        <p:txBody>
          <a:bodyPr wrap="square" lIns="0" tIns="0" rIns="0" bIns="0" rtlCol="0" anchor="t"/>
          <a:lstStyle/>
          <a:p>
            <a:pPr indent="0" marL="0">
              <a:buNone/>
            </a:pPr>
            <a:r>
              <a:rPr lang="en-US" sz="1500" dirty="0">
                <a:solidFill>
                  <a:schemeClr val="accent4"/>
                </a:solidFill>
              </a:rPr>
              <a:t>Every worn-garment photo in the data was a stain, so a clean checked shirt scored over 99 % stain.</a:t>
            </a:r>
            <a:endParaRPr lang="en-US" sz="1500" dirty="0"/>
          </a:p>
        </p:txBody>
      </p:sp>
      <p:sp>
        <p:nvSpPr>
          <p:cNvPr id="9" name="Text 5"/>
          <p:cNvSpPr txBox="1"/>
          <p:nvPr/>
        </p:nvSpPr>
        <p:spPr>
          <a:xfrm>
            <a:off x="777240" y="4572000"/>
            <a:ext cx="3246120" cy="1097280"/>
          </a:xfrm>
          <a:prstGeom prst="rect">
            <a:avLst/>
          </a:prstGeom>
          <a:noFill/>
          <a:ln/>
        </p:spPr>
        <p:txBody>
          <a:bodyPr wrap="square" lIns="0" tIns="0" rIns="0" bIns="0" rtlCol="0" anchor="t"/>
          <a:lstStyle/>
          <a:p>
            <a:pPr indent="0" marL="0">
              <a:buNone/>
            </a:pPr>
            <a:r>
              <a:rPr lang="en-US" sz="1500" b="1" dirty="0">
                <a:solidFill>
                  <a:schemeClr val="accent1"/>
                </a:solidFill>
              </a:rPr>
              <a:t>Fix: clean worn garments and clean clothes added to Good.</a:t>
            </a:r>
            <a:endParaRPr lang="en-US" sz="1500" dirty="0"/>
          </a:p>
        </p:txBody>
      </p:sp>
      <p:sp>
        <p:nvSpPr>
          <p:cNvPr id="10" name="Shape 6"/>
          <p:cNvSpPr/>
          <p:nvPr/>
        </p:nvSpPr>
        <p:spPr>
          <a:xfrm>
            <a:off x="4480560" y="1371600"/>
            <a:ext cx="3703320" cy="4526280"/>
          </a:xfrm>
          <a:prstGeom prst="roundRect">
            <a:avLst>
              <a:gd name="adj" fmla="val 2963"/>
            </a:avLst>
          </a:prstGeom>
          <a:solidFill>
            <a:schemeClr val="bg2"/>
          </a:solidFill>
          <a:ln w="12700">
            <a:solidFill>
              <a:schemeClr val="bg2"/>
            </a:solidFill>
            <a:prstDash val="solid"/>
          </a:ln>
        </p:spPr>
      </p:sp>
      <p:pic>
        <p:nvPicPr>
          <p:cNvPr id="11" name="Image 1" descr="C:\Users\LEEN TEXTILE\AppData\Local\Temp\claude\c--Users-LEEN-TEXTILE-Desktop-project\fc54ecae-a23f-4005-9127-854e117de4b4\scratchpad\deck\img\grey_good.jpg">    </p:cNvPr>
          <p:cNvPicPr>
            <a:picLocks noChangeAspect="1"/>
          </p:cNvPicPr>
          <p:nvPr/>
        </p:nvPicPr>
        <p:blipFill>
          <a:blip r:embed="rId2"/>
          <a:srcRect l="0" r="0" t="0" b="0"/>
          <a:stretch/>
        </p:blipFill>
        <p:spPr>
          <a:xfrm>
            <a:off x="4709160" y="1600200"/>
            <a:ext cx="1325880" cy="1325880"/>
          </a:xfrm>
          <a:prstGeom prst="rect">
            <a:avLst/>
          </a:prstGeom>
        </p:spPr>
      </p:pic>
      <p:sp>
        <p:nvSpPr>
          <p:cNvPr id="12" name="Text 7"/>
          <p:cNvSpPr txBox="1"/>
          <p:nvPr/>
        </p:nvSpPr>
        <p:spPr>
          <a:xfrm>
            <a:off x="6217920" y="1645920"/>
            <a:ext cx="1828800" cy="320040"/>
          </a:xfrm>
          <a:prstGeom prst="rect">
            <a:avLst/>
          </a:prstGeom>
          <a:noFill/>
          <a:ln/>
        </p:spPr>
        <p:txBody>
          <a:bodyPr wrap="square" lIns="0" tIns="0" rIns="0" bIns="0" rtlCol="0" anchor="t"/>
          <a:lstStyle/>
          <a:p>
            <a:pPr indent="0" marL="0">
              <a:buNone/>
            </a:pPr>
            <a:r>
              <a:rPr lang="en-US" sz="1400" b="1" dirty="0">
                <a:solidFill>
                  <a:schemeClr val="accent2"/>
                </a:solidFill>
              </a:rPr>
              <a:t>Shortcut 2</a:t>
            </a:r>
            <a:endParaRPr lang="en-US" sz="1400" dirty="0"/>
          </a:p>
        </p:txBody>
      </p:sp>
      <p:sp>
        <p:nvSpPr>
          <p:cNvPr id="13" name="Text 8"/>
          <p:cNvSpPr txBox="1"/>
          <p:nvPr/>
        </p:nvSpPr>
        <p:spPr>
          <a:xfrm>
            <a:off x="6217920" y="1965960"/>
            <a:ext cx="1828800" cy="914400"/>
          </a:xfrm>
          <a:prstGeom prst="rect">
            <a:avLst/>
          </a:prstGeom>
          <a:noFill/>
          <a:ln/>
        </p:spPr>
        <p:txBody>
          <a:bodyPr wrap="square" lIns="0" tIns="0" rIns="0" bIns="0" rtlCol="0" anchor="t"/>
          <a:lstStyle/>
          <a:p>
            <a:pPr indent="0" marL="0">
              <a:buNone/>
            </a:pPr>
            <a:r>
              <a:rPr lang="en-US" sz="1800" b="1" dirty="0">
                <a:solidFill>
                  <a:schemeClr val="tx1"/>
                </a:solidFill>
              </a:rPr>
              <a:t>“Plain grey cotton = stain”</a:t>
            </a:r>
            <a:endParaRPr lang="en-US" sz="1800" dirty="0"/>
          </a:p>
        </p:txBody>
      </p:sp>
      <p:sp>
        <p:nvSpPr>
          <p:cNvPr id="14" name="Text 9"/>
          <p:cNvSpPr txBox="1"/>
          <p:nvPr/>
        </p:nvSpPr>
        <p:spPr>
          <a:xfrm>
            <a:off x="4709160" y="3108960"/>
            <a:ext cx="3246120" cy="1371600"/>
          </a:xfrm>
          <a:prstGeom prst="rect">
            <a:avLst/>
          </a:prstGeom>
          <a:noFill/>
          <a:ln/>
        </p:spPr>
        <p:txBody>
          <a:bodyPr wrap="square" lIns="0" tIns="0" rIns="0" bIns="0" rtlCol="0" anchor="t"/>
          <a:lstStyle/>
          <a:p>
            <a:pPr indent="0" marL="0">
              <a:buNone/>
            </a:pPr>
            <a:r>
              <a:rPr lang="en-US" sz="1500" dirty="0">
                <a:solidFill>
                  <a:schemeClr val="accent4"/>
                </a:solidFill>
              </a:rPr>
              <a:t>Grey stain photos came from one camera, so 60 of 70 clean grey cotton photos were called stain.</a:t>
            </a:r>
            <a:endParaRPr lang="en-US" sz="1500" dirty="0"/>
          </a:p>
        </p:txBody>
      </p:sp>
      <p:sp>
        <p:nvSpPr>
          <p:cNvPr id="15" name="Text 10"/>
          <p:cNvSpPr txBox="1"/>
          <p:nvPr/>
        </p:nvSpPr>
        <p:spPr>
          <a:xfrm>
            <a:off x="4709160" y="4572000"/>
            <a:ext cx="3246120" cy="1097280"/>
          </a:xfrm>
          <a:prstGeom prst="rect">
            <a:avLst/>
          </a:prstGeom>
          <a:noFill/>
          <a:ln/>
        </p:spPr>
        <p:txBody>
          <a:bodyPr wrap="square" lIns="0" tIns="0" rIns="0" bIns="0" rtlCol="0" anchor="t"/>
          <a:lstStyle/>
          <a:p>
            <a:pPr indent="0" marL="0">
              <a:buNone/>
            </a:pPr>
            <a:r>
              <a:rPr lang="en-US" sz="1500" b="1" dirty="0">
                <a:solidFill>
                  <a:schemeClr val="accent1"/>
                </a:solidFill>
              </a:rPr>
              <a:t>Fix: all plain grey cotton photos from that camera added to Good.</a:t>
            </a:r>
            <a:endParaRPr lang="en-US" sz="1500" dirty="0"/>
          </a:p>
        </p:txBody>
      </p:sp>
      <p:sp>
        <p:nvSpPr>
          <p:cNvPr id="16" name="Shape 11"/>
          <p:cNvSpPr/>
          <p:nvPr/>
        </p:nvSpPr>
        <p:spPr>
          <a:xfrm>
            <a:off x="8412480" y="1371600"/>
            <a:ext cx="3200400" cy="4526280"/>
          </a:xfrm>
          <a:prstGeom prst="roundRect">
            <a:avLst>
              <a:gd name="adj" fmla="val 3429"/>
            </a:avLst>
          </a:prstGeom>
          <a:solidFill>
            <a:schemeClr val="accent3"/>
          </a:solidFill>
          <a:ln w="12700">
            <a:solidFill>
              <a:schemeClr val="accent3"/>
            </a:solidFill>
            <a:prstDash val="solid"/>
          </a:ln>
        </p:spPr>
      </p:sp>
      <p:sp>
        <p:nvSpPr>
          <p:cNvPr id="17" name="Text 12"/>
          <p:cNvSpPr txBox="1"/>
          <p:nvPr/>
        </p:nvSpPr>
        <p:spPr>
          <a:xfrm>
            <a:off x="8686800" y="1691640"/>
            <a:ext cx="27432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FIELD TEST</a:t>
            </a:r>
            <a:endParaRPr lang="en-US" sz="1400" dirty="0"/>
          </a:p>
        </p:txBody>
      </p:sp>
      <p:sp>
        <p:nvSpPr>
          <p:cNvPr id="18" name="Text 13"/>
          <p:cNvSpPr txBox="1"/>
          <p:nvPr/>
        </p:nvSpPr>
        <p:spPr>
          <a:xfrm>
            <a:off x="8686800" y="2148840"/>
            <a:ext cx="2743200" cy="1097280"/>
          </a:xfrm>
          <a:prstGeom prst="rect">
            <a:avLst/>
          </a:prstGeom>
          <a:noFill/>
          <a:ln/>
        </p:spPr>
        <p:txBody>
          <a:bodyPr wrap="square" lIns="0" tIns="0" rIns="0" bIns="0" rtlCol="0" anchor="t"/>
          <a:lstStyle/>
          <a:p>
            <a:pPr indent="0" marL="0">
              <a:buNone/>
            </a:pPr>
            <a:r>
              <a:rPr lang="en-US" sz="6000" b="1" dirty="0">
                <a:solidFill>
                  <a:schemeClr val="bg1"/>
                </a:solidFill>
              </a:rPr>
              <a:t>92 %</a:t>
            </a:r>
            <a:endParaRPr lang="en-US" sz="6000" dirty="0"/>
          </a:p>
        </p:txBody>
      </p:sp>
      <p:sp>
        <p:nvSpPr>
          <p:cNvPr id="19" name="Text 14"/>
          <p:cNvSpPr txBox="1"/>
          <p:nvPr/>
        </p:nvSpPr>
        <p:spPr>
          <a:xfrm>
            <a:off x="8686800" y="3383280"/>
            <a:ext cx="2651760" cy="2011680"/>
          </a:xfrm>
          <a:prstGeom prst="rect">
            <a:avLst/>
          </a:prstGeom>
          <a:noFill/>
          <a:ln/>
        </p:spPr>
        <p:txBody>
          <a:bodyPr wrap="square" lIns="0" tIns="0" rIns="0" bIns="0" rtlCol="0" anchor="t"/>
          <a:lstStyle/>
          <a:p>
            <a:pPr indent="0" marL="0">
              <a:buNone/>
            </a:pPr>
            <a:r>
              <a:rPr lang="en-US" sz="1600" dirty="0">
                <a:solidFill>
                  <a:schemeClr val="bg2"/>
                </a:solidFill>
              </a:rPr>
              <a:t>of 150 clean worn garments the model had never seen are now classified as Good.</a:t>
            </a:r>
            <a:endParaRPr lang="en-US" sz="1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Two models, trained on the same data</a:t>
            </a:r>
            <a:endParaRPr lang="en-US" sz="3200" dirty="0"/>
          </a:p>
        </p:txBody>
      </p:sp>
      <p:sp>
        <p:nvSpPr>
          <p:cNvPr id="4" name="Shape 1"/>
          <p:cNvSpPr/>
          <p:nvPr/>
        </p:nvSpPr>
        <p:spPr>
          <a:xfrm>
            <a:off x="548640" y="1371600"/>
            <a:ext cx="5440680" cy="3063240"/>
          </a:xfrm>
          <a:prstGeom prst="roundRect">
            <a:avLst>
              <a:gd name="adj" fmla="val 3582"/>
            </a:avLst>
          </a:prstGeom>
          <a:solidFill>
            <a:schemeClr val="bg2"/>
          </a:solidFill>
          <a:ln w="12700">
            <a:solidFill>
              <a:schemeClr val="bg2"/>
            </a:solidFill>
            <a:prstDash val="solid"/>
          </a:ln>
        </p:spPr>
      </p:sp>
      <p:sp>
        <p:nvSpPr>
          <p:cNvPr id="5" name="Shape 2"/>
          <p:cNvSpPr/>
          <p:nvPr/>
        </p:nvSpPr>
        <p:spPr>
          <a:xfrm>
            <a:off x="822960" y="1645920"/>
            <a:ext cx="292608" cy="292608"/>
          </a:xfrm>
          <a:prstGeom prst="ellipse">
            <a:avLst/>
          </a:prstGeom>
          <a:solidFill>
            <a:schemeClr val="accent2"/>
          </a:solidFill>
          <a:ln w="12700">
            <a:solidFill>
              <a:schemeClr val="accent2"/>
            </a:solidFill>
            <a:prstDash val="solid"/>
          </a:ln>
        </p:spPr>
      </p:sp>
      <p:sp>
        <p:nvSpPr>
          <p:cNvPr id="6" name="Text 3"/>
          <p:cNvSpPr txBox="1"/>
          <p:nvPr/>
        </p:nvSpPr>
        <p:spPr>
          <a:xfrm>
            <a:off x="1280160" y="1572768"/>
            <a:ext cx="4480560" cy="457200"/>
          </a:xfrm>
          <a:prstGeom prst="rect">
            <a:avLst/>
          </a:prstGeom>
          <a:noFill/>
          <a:ln/>
        </p:spPr>
        <p:txBody>
          <a:bodyPr wrap="square" lIns="0" tIns="0" rIns="0" bIns="0" rtlCol="0" anchor="t"/>
          <a:lstStyle/>
          <a:p>
            <a:pPr indent="0" marL="0">
              <a:buNone/>
            </a:pPr>
            <a:r>
              <a:rPr lang="en-US" sz="2200" b="1" dirty="0">
                <a:solidFill>
                  <a:schemeClr val="tx1"/>
                </a:solidFill>
              </a:rPr>
              <a:t>Custom CNN, from scratch</a:t>
            </a:r>
            <a:endParaRPr lang="en-US" sz="2200" dirty="0"/>
          </a:p>
        </p:txBody>
      </p:sp>
      <p:sp>
        <p:nvSpPr>
          <p:cNvPr id="7" name="Text 4"/>
          <p:cNvSpPr txBox="1"/>
          <p:nvPr/>
        </p:nvSpPr>
        <p:spPr>
          <a:xfrm>
            <a:off x="822960" y="2286000"/>
            <a:ext cx="4892040" cy="20116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4 convolution stages: 32 → 64 → 128 → 256 filters</a:t>
            </a:r>
            <a:endParaRPr lang="en-US" sz="1700" dirty="0"/>
          </a:p>
          <a:p>
            <a:pPr marL="228600" indent="-228600">
              <a:spcAft>
                <a:spcPts val="800"/>
              </a:spcAft>
              <a:buSzPct val="100000"/>
              <a:buChar char="•"/>
            </a:pPr>
            <a:r>
              <a:rPr lang="en-US" sz="1700" dirty="0">
                <a:solidFill>
                  <a:schemeClr val="tx1"/>
                </a:solidFill>
              </a:rPr>
              <a:t>Batch normalisation, spatial dropout, L2 1e-5</a:t>
            </a:r>
            <a:endParaRPr lang="en-US" sz="1700" dirty="0"/>
          </a:p>
          <a:p>
            <a:pPr marL="228600" indent="-228600">
              <a:spcAft>
                <a:spcPts val="800"/>
              </a:spcAft>
              <a:buSzPct val="100000"/>
              <a:buChar char="•"/>
            </a:pPr>
            <a:r>
              <a:rPr lang="en-US" sz="1700" dirty="0">
                <a:solidFill>
                  <a:schemeClr val="tx1"/>
                </a:solidFill>
              </a:rPr>
              <a:t>Global max pooling → softmax over 4 classes</a:t>
            </a:r>
            <a:endParaRPr lang="en-US" sz="1700" dirty="0"/>
          </a:p>
          <a:p>
            <a:pPr marL="228600" indent="-228600">
              <a:spcAft>
                <a:spcPts val="800"/>
              </a:spcAft>
              <a:buSzPct val="100000"/>
              <a:buChar char="•"/>
            </a:pPr>
            <a:r>
              <a:rPr lang="en-US" sz="1700" dirty="0">
                <a:solidFill>
                  <a:schemeClr val="tx1"/>
                </a:solidFill>
              </a:rPr>
              <a:t>1.18 M parameters · Adam 1e-3 · up to 60 epochs</a:t>
            </a:r>
            <a:endParaRPr lang="en-US" sz="1700" dirty="0"/>
          </a:p>
        </p:txBody>
      </p:sp>
      <p:sp>
        <p:nvSpPr>
          <p:cNvPr id="8" name="Shape 5"/>
          <p:cNvSpPr/>
          <p:nvPr/>
        </p:nvSpPr>
        <p:spPr>
          <a:xfrm>
            <a:off x="6172200" y="1371600"/>
            <a:ext cx="5440680" cy="3063240"/>
          </a:xfrm>
          <a:prstGeom prst="roundRect">
            <a:avLst>
              <a:gd name="adj" fmla="val 3582"/>
            </a:avLst>
          </a:prstGeom>
          <a:solidFill>
            <a:schemeClr val="bg2"/>
          </a:solidFill>
          <a:ln w="12700">
            <a:solidFill>
              <a:schemeClr val="bg2"/>
            </a:solidFill>
            <a:prstDash val="solid"/>
          </a:ln>
        </p:spPr>
      </p:sp>
      <p:sp>
        <p:nvSpPr>
          <p:cNvPr id="9" name="Shape 6"/>
          <p:cNvSpPr/>
          <p:nvPr/>
        </p:nvSpPr>
        <p:spPr>
          <a:xfrm>
            <a:off x="6446520" y="1645920"/>
            <a:ext cx="292608" cy="292608"/>
          </a:xfrm>
          <a:prstGeom prst="ellipse">
            <a:avLst/>
          </a:prstGeom>
          <a:solidFill>
            <a:schemeClr val="accent1"/>
          </a:solidFill>
          <a:ln w="12700">
            <a:solidFill>
              <a:schemeClr val="accent1"/>
            </a:solidFill>
            <a:prstDash val="solid"/>
          </a:ln>
        </p:spPr>
      </p:sp>
      <p:sp>
        <p:nvSpPr>
          <p:cNvPr id="10" name="Text 7"/>
          <p:cNvSpPr txBox="1"/>
          <p:nvPr/>
        </p:nvSpPr>
        <p:spPr>
          <a:xfrm>
            <a:off x="6903720" y="1572768"/>
            <a:ext cx="4480560" cy="457200"/>
          </a:xfrm>
          <a:prstGeom prst="rect">
            <a:avLst/>
          </a:prstGeom>
          <a:noFill/>
          <a:ln/>
        </p:spPr>
        <p:txBody>
          <a:bodyPr wrap="square" lIns="0" tIns="0" rIns="0" bIns="0" rtlCol="0" anchor="t"/>
          <a:lstStyle/>
          <a:p>
            <a:pPr indent="0" marL="0">
              <a:buNone/>
            </a:pPr>
            <a:r>
              <a:rPr lang="en-US" sz="2200" b="1" dirty="0">
                <a:solidFill>
                  <a:schemeClr val="tx1"/>
                </a:solidFill>
              </a:rPr>
              <a:t>MobileNetV2, transfer learning</a:t>
            </a:r>
            <a:endParaRPr lang="en-US" sz="2200" dirty="0"/>
          </a:p>
        </p:txBody>
      </p:sp>
      <p:sp>
        <p:nvSpPr>
          <p:cNvPr id="11" name="Text 8"/>
          <p:cNvSpPr txBox="1"/>
          <p:nvPr/>
        </p:nvSpPr>
        <p:spPr>
          <a:xfrm>
            <a:off x="6446520" y="2286000"/>
            <a:ext cx="4892040" cy="20116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Backbone pre-trained on ImageNet</a:t>
            </a:r>
            <a:endParaRPr lang="en-US" sz="1700" dirty="0"/>
          </a:p>
          <a:p>
            <a:pPr marL="228600" indent="-228600">
              <a:spcAft>
                <a:spcPts val="800"/>
              </a:spcAft>
              <a:buSzPct val="100000"/>
              <a:buChar char="•"/>
            </a:pPr>
            <a:r>
              <a:rPr lang="en-US" sz="1700" dirty="0">
                <a:solidFill>
                  <a:schemeClr val="tx1"/>
                </a:solidFill>
              </a:rPr>
              <a:t>12 epochs with the backbone frozen (Adam 1e-3)</a:t>
            </a:r>
            <a:endParaRPr lang="en-US" sz="1700" dirty="0"/>
          </a:p>
          <a:p>
            <a:pPr marL="228600" indent="-228600">
              <a:spcAft>
                <a:spcPts val="800"/>
              </a:spcAft>
              <a:buSzPct val="100000"/>
              <a:buChar char="•"/>
            </a:pPr>
            <a:r>
              <a:rPr lang="en-US" sz="1700" dirty="0">
                <a:solidFill>
                  <a:schemeClr val="tx1"/>
                </a:solidFill>
              </a:rPr>
              <a:t>Top 40 layers fine-tuned (Adam 1e-5, BatchNorm frozen)</a:t>
            </a:r>
            <a:endParaRPr lang="en-US" sz="1700" dirty="0"/>
          </a:p>
          <a:p>
            <a:pPr marL="228600" indent="-228600">
              <a:spcAft>
                <a:spcPts val="800"/>
              </a:spcAft>
              <a:buSzPct val="100000"/>
              <a:buChar char="•"/>
            </a:pPr>
            <a:r>
              <a:rPr lang="en-US" sz="1700" dirty="0">
                <a:solidFill>
                  <a:schemeClr val="tx1"/>
                </a:solidFill>
              </a:rPr>
              <a:t>2.26 M parameters · global average pooling → softmax</a:t>
            </a:r>
            <a:endParaRPr lang="en-US" sz="1700" dirty="0"/>
          </a:p>
        </p:txBody>
      </p:sp>
      <p:sp>
        <p:nvSpPr>
          <p:cNvPr id="12" name="Shape 9"/>
          <p:cNvSpPr/>
          <p:nvPr/>
        </p:nvSpPr>
        <p:spPr>
          <a:xfrm>
            <a:off x="548640" y="4709160"/>
            <a:ext cx="11064240" cy="868680"/>
          </a:xfrm>
          <a:prstGeom prst="roundRect">
            <a:avLst>
              <a:gd name="adj" fmla="val 12632"/>
            </a:avLst>
          </a:prstGeom>
          <a:solidFill>
            <a:schemeClr val="accent5"/>
          </a:solidFill>
          <a:ln w="12700">
            <a:solidFill>
              <a:schemeClr val="accent5"/>
            </a:solidFill>
            <a:prstDash val="solid"/>
          </a:ln>
        </p:spPr>
      </p:sp>
      <p:sp>
        <p:nvSpPr>
          <p:cNvPr id="13" name="Text 10"/>
          <p:cNvSpPr txBox="1"/>
          <p:nvPr/>
        </p:nvSpPr>
        <p:spPr>
          <a:xfrm>
            <a:off x="822960" y="4846320"/>
            <a:ext cx="10515600" cy="594360"/>
          </a:xfrm>
          <a:prstGeom prst="rect">
            <a:avLst/>
          </a:prstGeom>
          <a:noFill/>
          <a:ln/>
        </p:spPr>
        <p:txBody>
          <a:bodyPr wrap="square" lIns="0" tIns="0" rIns="0" bIns="0" rtlCol="0" anchor="ctr"/>
          <a:lstStyle/>
          <a:p>
            <a:pPr indent="0" marL="0">
              <a:buNone/>
            </a:pPr>
            <a:r>
              <a:rPr lang="en-US" sz="1500" b="1" dirty="0">
                <a:solidFill>
                  <a:schemeClr val="tx1"/>
                </a:solidFill>
              </a:rPr>
              <a:t>Shared: </a:t>
            </a:r>
            <a:pPr indent="0" marL="0">
              <a:buNone/>
            </a:pPr>
            <a:r>
              <a:rPr lang="en-US" sz="1500" dirty="0">
                <a:solidFill>
                  <a:schemeClr val="tx1"/>
                </a:solidFill>
              </a:rPr>
              <a:t>224 × 224 RGB input · class weights · same augmentation · early stopping on validation loss · batch 16 · seed 42 · TensorFlow 2.20 on a laptop CPU</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Transfer learning learns faster</a:t>
            </a:r>
            <a:endParaRPr lang="en-US" sz="3200" dirty="0"/>
          </a:p>
        </p:txBody>
      </p:sp>
      <p:graphicFrame>
        <p:nvGraphicFramePr>
          <p:cNvPr id="4" name="Chart 0" descr=""/>
          <p:cNvGraphicFramePr/>
          <p:nvPr/>
        </p:nvGraphicFramePr>
        <p:xfrm>
          <a:off x="548640" y="1325880"/>
          <a:ext cx="544068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325880"/>
          <a:ext cx="5440680" cy="402336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548640" y="5532120"/>
            <a:ext cx="11064240" cy="548640"/>
          </a:xfrm>
          <a:prstGeom prst="rect">
            <a:avLst/>
          </a:prstGeom>
          <a:noFill/>
          <a:ln/>
        </p:spPr>
        <p:txBody>
          <a:bodyPr wrap="square" lIns="0" tIns="0" rIns="0" bIns="0" rtlCol="0" anchor="t"/>
          <a:lstStyle/>
          <a:p>
            <a:pPr indent="0" marL="0">
              <a:buNone/>
            </a:pPr>
            <a:r>
              <a:rPr lang="en-US" sz="1400" dirty="0">
                <a:solidFill>
                  <a:schemeClr val="accent4"/>
                </a:solidFill>
              </a:rPr>
              <a:t>Training time on a laptop CPU: Custom CNN 29 min, MobileNetV2 13 min (early stopping). MobileNetV2 is fine-tuned from epoch 13.</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MobileNetV2 is clearly the better model</a:t>
            </a:r>
            <a:endParaRPr lang="en-US" sz="3200" dirty="0"/>
          </a:p>
        </p:txBody>
      </p:sp>
      <p:sp>
        <p:nvSpPr>
          <p:cNvPr id="4" name="Text 1"/>
          <p:cNvSpPr txBox="1"/>
          <p:nvPr/>
        </p:nvSpPr>
        <p:spPr>
          <a:xfrm>
            <a:off x="548640" y="1417320"/>
            <a:ext cx="3840480" cy="1051560"/>
          </a:xfrm>
          <a:prstGeom prst="rect">
            <a:avLst/>
          </a:prstGeom>
          <a:noFill/>
          <a:ln/>
        </p:spPr>
        <p:txBody>
          <a:bodyPr wrap="square" lIns="0" tIns="0" rIns="0" bIns="0" rtlCol="0" anchor="t"/>
          <a:lstStyle/>
          <a:p>
            <a:pPr indent="0" marL="0">
              <a:buNone/>
            </a:pPr>
            <a:r>
              <a:rPr lang="en-US" sz="6000" b="1" dirty="0">
                <a:solidFill>
                  <a:schemeClr val="accent1"/>
                </a:solidFill>
              </a:rPr>
              <a:t>81.3 %</a:t>
            </a:r>
            <a:endParaRPr lang="en-US" sz="6000" dirty="0"/>
          </a:p>
        </p:txBody>
      </p:sp>
      <p:sp>
        <p:nvSpPr>
          <p:cNvPr id="5" name="Text 2"/>
          <p:cNvSpPr txBox="1"/>
          <p:nvPr/>
        </p:nvSpPr>
        <p:spPr>
          <a:xfrm>
            <a:off x="548640" y="2468880"/>
            <a:ext cx="3840480" cy="365760"/>
          </a:xfrm>
          <a:prstGeom prst="rect">
            <a:avLst/>
          </a:prstGeom>
          <a:noFill/>
          <a:ln/>
        </p:spPr>
        <p:txBody>
          <a:bodyPr wrap="square" lIns="0" tIns="0" rIns="0" bIns="0" rtlCol="0" anchor="t"/>
          <a:lstStyle/>
          <a:p>
            <a:pPr indent="0" marL="0">
              <a:buNone/>
            </a:pPr>
            <a:r>
              <a:rPr lang="en-US" sz="1600" dirty="0">
                <a:solidFill>
                  <a:schemeClr val="accent4"/>
                </a:solidFill>
              </a:rPr>
              <a:t>test accuracy, MobileNetV2 (deployed)</a:t>
            </a:r>
            <a:endParaRPr lang="en-US" sz="1600" dirty="0"/>
          </a:p>
        </p:txBody>
      </p:sp>
      <p:sp>
        <p:nvSpPr>
          <p:cNvPr id="6" name="Text 3"/>
          <p:cNvSpPr txBox="1"/>
          <p:nvPr/>
        </p:nvSpPr>
        <p:spPr>
          <a:xfrm>
            <a:off x="548640" y="3063240"/>
            <a:ext cx="3840480" cy="1051560"/>
          </a:xfrm>
          <a:prstGeom prst="rect">
            <a:avLst/>
          </a:prstGeom>
          <a:noFill/>
          <a:ln/>
        </p:spPr>
        <p:txBody>
          <a:bodyPr wrap="square" lIns="0" tIns="0" rIns="0" bIns="0" rtlCol="0" anchor="t"/>
          <a:lstStyle/>
          <a:p>
            <a:pPr indent="0" marL="0">
              <a:buNone/>
            </a:pPr>
            <a:r>
              <a:rPr lang="en-US" sz="6000" b="1" dirty="0">
                <a:solidFill>
                  <a:schemeClr val="accent1"/>
                </a:solidFill>
              </a:rPr>
              <a:t>0.82</a:t>
            </a:r>
            <a:endParaRPr lang="en-US" sz="6000" dirty="0"/>
          </a:p>
        </p:txBody>
      </p:sp>
      <p:sp>
        <p:nvSpPr>
          <p:cNvPr id="7" name="Text 4"/>
          <p:cNvSpPr txBox="1"/>
          <p:nvPr/>
        </p:nvSpPr>
        <p:spPr>
          <a:xfrm>
            <a:off x="548640" y="4114800"/>
            <a:ext cx="3840480" cy="365760"/>
          </a:xfrm>
          <a:prstGeom prst="rect">
            <a:avLst/>
          </a:prstGeom>
          <a:noFill/>
          <a:ln/>
        </p:spPr>
        <p:txBody>
          <a:bodyPr wrap="square" lIns="0" tIns="0" rIns="0" bIns="0" rtlCol="0" anchor="t"/>
          <a:lstStyle/>
          <a:p>
            <a:pPr indent="0" marL="0">
              <a:buNone/>
            </a:pPr>
            <a:r>
              <a:rPr lang="en-US" sz="1600" dirty="0">
                <a:solidFill>
                  <a:schemeClr val="accent4"/>
                </a:solidFill>
              </a:rPr>
              <a:t>macro F1 score</a:t>
            </a:r>
            <a:endParaRPr lang="en-US" sz="1600" dirty="0"/>
          </a:p>
        </p:txBody>
      </p:sp>
      <p:sp>
        <p:nvSpPr>
          <p:cNvPr id="8" name="Shape 5"/>
          <p:cNvSpPr/>
          <p:nvPr/>
        </p:nvSpPr>
        <p:spPr>
          <a:xfrm>
            <a:off x="548640" y="4754880"/>
            <a:ext cx="3840480" cy="1188720"/>
          </a:xfrm>
          <a:prstGeom prst="roundRect">
            <a:avLst>
              <a:gd name="adj" fmla="val 9231"/>
            </a:avLst>
          </a:prstGeom>
          <a:solidFill>
            <a:schemeClr val="accent5"/>
          </a:solidFill>
          <a:ln w="12700">
            <a:solidFill>
              <a:schemeClr val="accent5"/>
            </a:solidFill>
            <a:prstDash val="solid"/>
          </a:ln>
        </p:spPr>
      </p:sp>
      <p:sp>
        <p:nvSpPr>
          <p:cNvPr id="9" name="Text 6"/>
          <p:cNvSpPr txBox="1"/>
          <p:nvPr/>
        </p:nvSpPr>
        <p:spPr>
          <a:xfrm>
            <a:off x="777240" y="4892040"/>
            <a:ext cx="3429000" cy="91440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Custom CNN, for comparison</a:t>
            </a:r>
            <a:endParaRPr lang="en-US" sz="1600" dirty="0"/>
          </a:p>
          <a:p>
            <a:pPr indent="0" marL="0">
              <a:spcAft>
                <a:spcPts val="400"/>
              </a:spcAft>
              <a:buNone/>
            </a:pPr>
            <a:r>
              <a:rPr lang="en-US" sz="1600" dirty="0">
                <a:solidFill>
                  <a:schemeClr val="tx1"/>
                </a:solidFill>
              </a:rPr>
              <a:t>68.4 % accuracy  ·  macro F1 0.69</a:t>
            </a:r>
            <a:endParaRPr lang="en-US" sz="1600" dirty="0"/>
          </a:p>
        </p:txBody>
      </p:sp>
      <p:graphicFrame>
        <p:nvGraphicFramePr>
          <p:cNvPr id="10" name="Chart 0" descr=""/>
          <p:cNvGraphicFramePr/>
          <p:nvPr/>
        </p:nvGraphicFramePr>
        <p:xfrm>
          <a:off x="4846320" y="1325880"/>
          <a:ext cx="6766560" cy="43434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Where the model is right and where it slips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400800" cy="914400"/>
        </p:xfrm>
        <a:graphic>
          <a:graphicData uri="http://schemas.openxmlformats.org/drawingml/2006/table">
            <a:tbl>
              <a:tblPr/>
              <a:tblGrid>
                <a:gridCol w="1828800"/>
                <a:gridCol w="1143000"/>
                <a:gridCol w="1143000"/>
                <a:gridCol w="1143000"/>
                <a:gridCol w="1143000"/>
              </a:tblGrid>
              <a:tr h="731520">
                <a:tc>
                  <a:txBody>
                    <a:bodyPr/>
                    <a:lstStyle/>
                    <a:p>
                      <a:pPr algn="ctr" indent="0" marL="0">
                        <a:buNone/>
                      </a:pPr>
                      <a:r>
                        <a:rPr lang="en-US" sz="1200" b="1" dirty="0">
                          <a:solidFill>
                            <a:srgbClr val="5B6170"/>
                          </a:solidFill>
                          <a:latin typeface="Calibri" pitchFamily="34" charset="0"/>
                          <a:ea typeface="Calibri" pitchFamily="34" charset="-122"/>
                          <a:cs typeface="Calibri" pitchFamily="34" charset="-120"/>
                        </a:rPr>
                        <a:t>True ↓ / Predicted →</a:t>
                      </a:r>
                      <a:endParaRPr lang="en-US" sz="12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1E3C"/>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1E3C"/>
                          </a:solidFill>
                          <a:latin typeface="Calibri" pitchFamily="34" charset="0"/>
                          <a:ea typeface="Calibri" pitchFamily="34" charset="-122"/>
                          <a:cs typeface="Calibri" pitchFamily="34" charset="-120"/>
                        </a:rPr>
                        <a:t>Hole</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1E3C"/>
                          </a:solidFill>
                          <a:latin typeface="Calibri" pitchFamily="34" charset="0"/>
                          <a:ea typeface="Calibri" pitchFamily="34" charset="-122"/>
                          <a:cs typeface="Calibri" pitchFamily="34" charset="-120"/>
                        </a:rPr>
                        <a:t>Stain</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1E3C"/>
                          </a:solidFill>
                          <a:latin typeface="Calibri" pitchFamily="34" charset="0"/>
                          <a:ea typeface="Calibri" pitchFamily="34" charset="-122"/>
                          <a:cs typeface="Calibri" pitchFamily="34" charset="-120"/>
                        </a:rPr>
                        <a:t>Broken thread</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731520">
                <a:tc>
                  <a:txBody>
                    <a:bodyPr/>
                    <a:lstStyle/>
                    <a:p>
                      <a:pPr algn="l" indent="0" marL="0">
                        <a:buNone/>
                      </a:pPr>
                      <a:r>
                        <a:rPr lang="en-US" sz="1400" b="1" dirty="0">
                          <a:solidFill>
                            <a:srgbClr val="1B1E3C"/>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42</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446C4"/>
                    </a:solidFill>
                  </a:tcPr>
                </a:tc>
                <a:tc>
                  <a:txBody>
                    <a:bodyPr/>
                    <a:lstStyle/>
                    <a:p>
                      <a:pPr algn="ctr" indent="0" marL="0">
                        <a:buNone/>
                      </a:pPr>
                      <a:r>
                        <a:rPr lang="en-US" sz="1800" dirty="0">
                          <a:solidFill>
                            <a:srgbClr val="1B1E3C"/>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7F8FC"/>
                    </a:solidFill>
                  </a:tcPr>
                </a:tc>
                <a:tc>
                  <a:txBody>
                    <a:bodyPr/>
                    <a:lstStyle/>
                    <a:p>
                      <a:pPr algn="ctr" indent="0" marL="0">
                        <a:buNone/>
                      </a:pPr>
                      <a:r>
                        <a:rPr lang="en-US" sz="1800" b="1" dirty="0">
                          <a:solidFill>
                            <a:srgbClr val="1B1E3C"/>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7CCEF"/>
                    </a:solidFill>
                  </a:tcPr>
                </a:tc>
                <a:tc>
                  <a:txBody>
                    <a:bodyPr/>
                    <a:lstStyle/>
                    <a:p>
                      <a:pPr algn="ctr" indent="0" marL="0">
                        <a:buNone/>
                      </a:pPr>
                      <a:r>
                        <a:rPr lang="en-US" sz="1800" b="1" dirty="0">
                          <a:solidFill>
                            <a:srgbClr val="1B1E3C"/>
                          </a:solidFill>
                          <a:latin typeface="Calibri" pitchFamily="34" charset="0"/>
                          <a:ea typeface="Calibri" pitchFamily="34" charset="-122"/>
                          <a:cs typeface="Calibri" pitchFamily="34" charset="-120"/>
                        </a:rPr>
                        <a:t>7</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8BEEA"/>
                    </a:solidFill>
                  </a:tcPr>
                </a:tc>
              </a:tr>
              <a:tr h="731520">
                <a:tc>
                  <a:txBody>
                    <a:bodyPr/>
                    <a:lstStyle/>
                    <a:p>
                      <a:pPr algn="l" indent="0" marL="0">
                        <a:buNone/>
                      </a:pPr>
                      <a:r>
                        <a:rPr lang="en-US" sz="1400" b="1" dirty="0">
                          <a:solidFill>
                            <a:srgbClr val="1B1E3C"/>
                          </a:solidFill>
                          <a:latin typeface="Calibri" pitchFamily="34" charset="0"/>
                          <a:ea typeface="Calibri" pitchFamily="34" charset="-122"/>
                          <a:cs typeface="Calibri" pitchFamily="34" charset="-120"/>
                        </a:rPr>
                        <a:t>Hole</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E3C"/>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7F8FC"/>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24</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884D8"/>
                    </a:solidFill>
                  </a:tcPr>
                </a:tc>
                <a:tc>
                  <a:txBody>
                    <a:bodyPr/>
                    <a:lstStyle/>
                    <a:p>
                      <a:pPr algn="ctr" indent="0" marL="0">
                        <a:buNone/>
                      </a:pPr>
                      <a:r>
                        <a:rPr lang="en-US" sz="1800" dirty="0">
                          <a:solidFill>
                            <a:srgbClr val="1B1E3C"/>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7F8FC"/>
                    </a:solidFill>
                  </a:tcPr>
                </a:tc>
                <a:tc>
                  <a:txBody>
                    <a:bodyPr/>
                    <a:lstStyle/>
                    <a:p>
                      <a:pPr algn="ctr" indent="0" marL="0">
                        <a:buNone/>
                      </a:pPr>
                      <a:r>
                        <a:rPr lang="en-US" sz="1800" b="1" dirty="0">
                          <a:solidFill>
                            <a:srgbClr val="1B1E3C"/>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F0"/>
                    </a:solidFill>
                  </a:tcPr>
                </a:tc>
              </a:tr>
              <a:tr h="731520">
                <a:tc>
                  <a:txBody>
                    <a:bodyPr/>
                    <a:lstStyle/>
                    <a:p>
                      <a:pPr algn="l" indent="0" marL="0">
                        <a:buNone/>
                      </a:pPr>
                      <a:r>
                        <a:rPr lang="en-US" sz="1400" b="1" dirty="0">
                          <a:solidFill>
                            <a:srgbClr val="1B1E3C"/>
                          </a:solidFill>
                          <a:latin typeface="Calibri" pitchFamily="34" charset="0"/>
                          <a:ea typeface="Calibri" pitchFamily="34" charset="-122"/>
                          <a:cs typeface="Calibri" pitchFamily="34" charset="-120"/>
                        </a:rPr>
                        <a:t>Stain</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B1E3C"/>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CC2EB"/>
                    </a:solidFill>
                  </a:tcPr>
                </a:tc>
                <a:tc>
                  <a:txBody>
                    <a:bodyPr/>
                    <a:lstStyle/>
                    <a:p>
                      <a:pPr algn="ctr" indent="0" marL="0">
                        <a:buNone/>
                      </a:pPr>
                      <a:r>
                        <a:rPr lang="en-US" sz="1800" b="1" dirty="0">
                          <a:solidFill>
                            <a:srgbClr val="1B1E3C"/>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ED3F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28</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6976D3"/>
                    </a:solidFill>
                  </a:tcPr>
                </a:tc>
                <a:tc>
                  <a:txBody>
                    <a:bodyPr/>
                    <a:lstStyle/>
                    <a:p>
                      <a:pPr algn="ctr" indent="0" marL="0">
                        <a:buNone/>
                      </a:pPr>
                      <a:r>
                        <a:rPr lang="en-US" sz="1800" b="1" dirty="0">
                          <a:solidFill>
                            <a:srgbClr val="1B1E3C"/>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4BBE9"/>
                    </a:solidFill>
                  </a:tcPr>
                </a:tc>
              </a:tr>
              <a:tr h="731520">
                <a:tc>
                  <a:txBody>
                    <a:bodyPr/>
                    <a:lstStyle/>
                    <a:p>
                      <a:pPr algn="l" indent="0" marL="0">
                        <a:buNone/>
                      </a:pPr>
                      <a:r>
                        <a:rPr lang="en-US" sz="1400" b="1" dirty="0">
                          <a:solidFill>
                            <a:srgbClr val="1B1E3C"/>
                          </a:solidFill>
                          <a:latin typeface="Calibri" pitchFamily="34" charset="0"/>
                          <a:ea typeface="Calibri" pitchFamily="34" charset="-122"/>
                          <a:cs typeface="Calibri" pitchFamily="34" charset="-120"/>
                        </a:rPr>
                        <a:t>Broken thread</a:t>
                      </a:r>
                      <a:endParaRPr lang="en-US" sz="14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B1E3C"/>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ED3F1"/>
                    </a:solidFill>
                  </a:tcPr>
                </a:tc>
                <a:tc>
                  <a:txBody>
                    <a:bodyPr/>
                    <a:lstStyle/>
                    <a:p>
                      <a:pPr algn="ctr" indent="0" marL="0">
                        <a:buNone/>
                      </a:pPr>
                      <a:r>
                        <a:rPr lang="en-US" sz="1800" b="1" dirty="0">
                          <a:solidFill>
                            <a:srgbClr val="1B1E3C"/>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ED3F1"/>
                    </a:solidFill>
                  </a:tcPr>
                </a:tc>
                <a:tc>
                  <a:txBody>
                    <a:bodyPr/>
                    <a:lstStyle/>
                    <a:p>
                      <a:pPr algn="ctr" indent="0" marL="0">
                        <a:buNone/>
                      </a:pPr>
                      <a:r>
                        <a:rPr lang="en-US" sz="1800" dirty="0">
                          <a:solidFill>
                            <a:srgbClr val="1B1E3C"/>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7F8FC"/>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32</a:t>
                      </a:r>
                      <a:endParaRPr lang="en-US" sz="18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A68CF"/>
                    </a:solidFill>
                  </a:tcPr>
                </a:tc>
              </a:tr>
            </a:tbl>
          </a:graphicData>
        </a:graphic>
      </p:graphicFrame>
      <p:sp>
        <p:nvSpPr>
          <p:cNvPr id="5" name="Text 1"/>
          <p:cNvSpPr txBox="1"/>
          <p:nvPr/>
        </p:nvSpPr>
        <p:spPr>
          <a:xfrm>
            <a:off x="548640" y="5257800"/>
            <a:ext cx="6400800" cy="365760"/>
          </a:xfrm>
          <a:prstGeom prst="rect">
            <a:avLst/>
          </a:prstGeom>
          <a:noFill/>
          <a:ln/>
        </p:spPr>
        <p:txBody>
          <a:bodyPr wrap="square" lIns="0" tIns="0" rIns="0" bIns="0" rtlCol="0" anchor="t"/>
          <a:lstStyle/>
          <a:p>
            <a:pPr indent="0" marL="0">
              <a:buNone/>
            </a:pPr>
            <a:r>
              <a:rPr lang="en-US" sz="1300" dirty="0">
                <a:solidFill>
                  <a:schemeClr val="accent4"/>
                </a:solidFill>
              </a:rPr>
              <a:t>MobileNetV2 on the 155 test images. Diagonal = correct.</a:t>
            </a:r>
            <a:endParaRPr lang="en-US" sz="1300" dirty="0"/>
          </a:p>
        </p:txBody>
      </p:sp>
      <p:sp>
        <p:nvSpPr>
          <p:cNvPr id="6" name="Shape 2"/>
          <p:cNvSpPr/>
          <p:nvPr/>
        </p:nvSpPr>
        <p:spPr>
          <a:xfrm>
            <a:off x="7360920" y="1463040"/>
            <a:ext cx="4251960" cy="1188720"/>
          </a:xfrm>
          <a:prstGeom prst="roundRect">
            <a:avLst>
              <a:gd name="adj" fmla="val 9231"/>
            </a:avLst>
          </a:prstGeom>
          <a:solidFill>
            <a:schemeClr val="bg2"/>
          </a:solidFill>
          <a:ln w="12700">
            <a:solidFill>
              <a:schemeClr val="bg2"/>
            </a:solidFill>
            <a:prstDash val="solid"/>
          </a:ln>
        </p:spPr>
      </p:sp>
      <p:sp>
        <p:nvSpPr>
          <p:cNvPr id="7" name="Shape 3"/>
          <p:cNvSpPr/>
          <p:nvPr/>
        </p:nvSpPr>
        <p:spPr>
          <a:xfrm>
            <a:off x="7589520" y="1719072"/>
            <a:ext cx="256032" cy="256032"/>
          </a:xfrm>
          <a:prstGeom prst="ellipse">
            <a:avLst/>
          </a:prstGeom>
          <a:solidFill>
            <a:schemeClr val="accent1"/>
          </a:solidFill>
          <a:ln w="12700">
            <a:solidFill>
              <a:schemeClr val="accent1"/>
            </a:solidFill>
            <a:prstDash val="solid"/>
          </a:ln>
        </p:spPr>
      </p:sp>
      <p:sp>
        <p:nvSpPr>
          <p:cNvPr id="8" name="Text 4"/>
          <p:cNvSpPr txBox="1"/>
          <p:nvPr/>
        </p:nvSpPr>
        <p:spPr>
          <a:xfrm>
            <a:off x="8001000" y="1645920"/>
            <a:ext cx="3429000" cy="365760"/>
          </a:xfrm>
          <a:prstGeom prst="rect">
            <a:avLst/>
          </a:prstGeom>
          <a:noFill/>
          <a:ln/>
        </p:spPr>
        <p:txBody>
          <a:bodyPr wrap="square" lIns="0" tIns="0" rIns="0" bIns="0" rtlCol="0" anchor="t"/>
          <a:lstStyle/>
          <a:p>
            <a:pPr indent="0" marL="0">
              <a:buNone/>
            </a:pPr>
            <a:r>
              <a:rPr lang="en-US" sz="1800" b="1" dirty="0">
                <a:solidFill>
                  <a:schemeClr val="tx1"/>
                </a:solidFill>
              </a:rPr>
              <a:t>Hole</a:t>
            </a:r>
            <a:endParaRPr lang="en-US" sz="1800" dirty="0"/>
          </a:p>
        </p:txBody>
      </p:sp>
      <p:sp>
        <p:nvSpPr>
          <p:cNvPr id="9" name="Text 5"/>
          <p:cNvSpPr txBox="1"/>
          <p:nvPr/>
        </p:nvSpPr>
        <p:spPr>
          <a:xfrm>
            <a:off x="8001000" y="2011680"/>
            <a:ext cx="3429000" cy="594360"/>
          </a:xfrm>
          <a:prstGeom prst="rect">
            <a:avLst/>
          </a:prstGeom>
          <a:noFill/>
          <a:ln/>
        </p:spPr>
        <p:txBody>
          <a:bodyPr wrap="square" lIns="0" tIns="0" rIns="0" bIns="0" rtlCol="0" anchor="t"/>
          <a:lstStyle/>
          <a:p>
            <a:pPr indent="0" marL="0">
              <a:buNone/>
            </a:pPr>
            <a:r>
              <a:rPr lang="en-US" sz="1400" dirty="0">
                <a:solidFill>
                  <a:schemeClr val="accent4"/>
                </a:solidFill>
              </a:rPr>
              <a:t>F1 0.92: the easiest class</a:t>
            </a:r>
            <a:endParaRPr lang="en-US" sz="1400" dirty="0"/>
          </a:p>
        </p:txBody>
      </p:sp>
      <p:sp>
        <p:nvSpPr>
          <p:cNvPr id="10" name="Shape 6"/>
          <p:cNvSpPr/>
          <p:nvPr/>
        </p:nvSpPr>
        <p:spPr>
          <a:xfrm>
            <a:off x="7360920" y="2834640"/>
            <a:ext cx="4251960" cy="1188720"/>
          </a:xfrm>
          <a:prstGeom prst="roundRect">
            <a:avLst>
              <a:gd name="adj" fmla="val 9231"/>
            </a:avLst>
          </a:prstGeom>
          <a:solidFill>
            <a:schemeClr val="bg2"/>
          </a:solidFill>
          <a:ln w="12700">
            <a:solidFill>
              <a:schemeClr val="bg2"/>
            </a:solidFill>
            <a:prstDash val="solid"/>
          </a:ln>
        </p:spPr>
      </p:sp>
      <p:sp>
        <p:nvSpPr>
          <p:cNvPr id="11" name="Shape 7"/>
          <p:cNvSpPr/>
          <p:nvPr/>
        </p:nvSpPr>
        <p:spPr>
          <a:xfrm>
            <a:off x="7589520" y="3090672"/>
            <a:ext cx="256032" cy="256032"/>
          </a:xfrm>
          <a:prstGeom prst="ellipse">
            <a:avLst/>
          </a:prstGeom>
          <a:solidFill>
            <a:schemeClr val="accent2"/>
          </a:solidFill>
          <a:ln w="12700">
            <a:solidFill>
              <a:schemeClr val="accent2"/>
            </a:solidFill>
            <a:prstDash val="solid"/>
          </a:ln>
        </p:spPr>
      </p:sp>
      <p:sp>
        <p:nvSpPr>
          <p:cNvPr id="12" name="Text 8"/>
          <p:cNvSpPr txBox="1"/>
          <p:nvPr/>
        </p:nvSpPr>
        <p:spPr>
          <a:xfrm>
            <a:off x="8001000" y="3017520"/>
            <a:ext cx="3429000" cy="365760"/>
          </a:xfrm>
          <a:prstGeom prst="rect">
            <a:avLst/>
          </a:prstGeom>
          <a:noFill/>
          <a:ln/>
        </p:spPr>
        <p:txBody>
          <a:bodyPr wrap="square" lIns="0" tIns="0" rIns="0" bIns="0" rtlCol="0" anchor="t"/>
          <a:lstStyle/>
          <a:p>
            <a:pPr indent="0" marL="0">
              <a:buNone/>
            </a:pPr>
            <a:r>
              <a:rPr lang="en-US" sz="1800" b="1" dirty="0">
                <a:solidFill>
                  <a:schemeClr val="tx1"/>
                </a:solidFill>
              </a:rPr>
              <a:t>Stain</a:t>
            </a:r>
            <a:endParaRPr lang="en-US" sz="1800" dirty="0"/>
          </a:p>
        </p:txBody>
      </p:sp>
      <p:sp>
        <p:nvSpPr>
          <p:cNvPr id="13" name="Text 9"/>
          <p:cNvSpPr txBox="1"/>
          <p:nvPr/>
        </p:nvSpPr>
        <p:spPr>
          <a:xfrm>
            <a:off x="8001000" y="3383280"/>
            <a:ext cx="3429000" cy="594360"/>
          </a:xfrm>
          <a:prstGeom prst="rect">
            <a:avLst/>
          </a:prstGeom>
          <a:noFill/>
          <a:ln/>
        </p:spPr>
        <p:txBody>
          <a:bodyPr wrap="square" lIns="0" tIns="0" rIns="0" bIns="0" rtlCol="0" anchor="t"/>
          <a:lstStyle/>
          <a:p>
            <a:pPr indent="0" marL="0">
              <a:buNone/>
            </a:pPr>
            <a:r>
              <a:rPr lang="en-US" sz="1400" dirty="0">
                <a:solidFill>
                  <a:schemeClr val="accent4"/>
                </a:solidFill>
              </a:rPr>
              <a:t>recall 0.65: faint stains taken for broken thread (8) or good (6)</a:t>
            </a:r>
            <a:endParaRPr lang="en-US" sz="1400" dirty="0"/>
          </a:p>
        </p:txBody>
      </p:sp>
      <p:sp>
        <p:nvSpPr>
          <p:cNvPr id="14" name="Shape 10"/>
          <p:cNvSpPr/>
          <p:nvPr/>
        </p:nvSpPr>
        <p:spPr>
          <a:xfrm>
            <a:off x="7360920" y="4206240"/>
            <a:ext cx="4251960" cy="1188720"/>
          </a:xfrm>
          <a:prstGeom prst="roundRect">
            <a:avLst>
              <a:gd name="adj" fmla="val 9231"/>
            </a:avLst>
          </a:prstGeom>
          <a:solidFill>
            <a:schemeClr val="bg2"/>
          </a:solidFill>
          <a:ln w="12700">
            <a:solidFill>
              <a:schemeClr val="bg2"/>
            </a:solidFill>
            <a:prstDash val="solid"/>
          </a:ln>
        </p:spPr>
      </p:sp>
      <p:sp>
        <p:nvSpPr>
          <p:cNvPr id="15" name="Shape 11"/>
          <p:cNvSpPr/>
          <p:nvPr/>
        </p:nvSpPr>
        <p:spPr>
          <a:xfrm>
            <a:off x="7589520" y="4462272"/>
            <a:ext cx="256032" cy="256032"/>
          </a:xfrm>
          <a:prstGeom prst="ellipse">
            <a:avLst/>
          </a:prstGeom>
          <a:solidFill>
            <a:schemeClr val="accent2"/>
          </a:solidFill>
          <a:ln w="12700">
            <a:solidFill>
              <a:schemeClr val="accent2"/>
            </a:solidFill>
            <a:prstDash val="solid"/>
          </a:ln>
        </p:spPr>
      </p:sp>
      <p:sp>
        <p:nvSpPr>
          <p:cNvPr id="16" name="Text 12"/>
          <p:cNvSpPr txBox="1"/>
          <p:nvPr/>
        </p:nvSpPr>
        <p:spPr>
          <a:xfrm>
            <a:off x="8001000" y="4389120"/>
            <a:ext cx="3429000" cy="365760"/>
          </a:xfrm>
          <a:prstGeom prst="rect">
            <a:avLst/>
          </a:prstGeom>
          <a:noFill/>
          <a:ln/>
        </p:spPr>
        <p:txBody>
          <a:bodyPr wrap="square" lIns="0" tIns="0" rIns="0" bIns="0" rtlCol="0" anchor="t"/>
          <a:lstStyle/>
          <a:p>
            <a:pPr indent="0" marL="0">
              <a:buNone/>
            </a:pPr>
            <a:r>
              <a:rPr lang="en-US" sz="1800" b="1" dirty="0">
                <a:solidFill>
                  <a:schemeClr val="tx1"/>
                </a:solidFill>
              </a:rPr>
              <a:t>Good</a:t>
            </a:r>
            <a:endParaRPr lang="en-US" sz="1800" dirty="0"/>
          </a:p>
        </p:txBody>
      </p:sp>
      <p:sp>
        <p:nvSpPr>
          <p:cNvPr id="17" name="Text 13"/>
          <p:cNvSpPr txBox="1"/>
          <p:nvPr/>
        </p:nvSpPr>
        <p:spPr>
          <a:xfrm>
            <a:off x="8001000" y="4754880"/>
            <a:ext cx="3429000" cy="594360"/>
          </a:xfrm>
          <a:prstGeom prst="rect">
            <a:avLst/>
          </a:prstGeom>
          <a:noFill/>
          <a:ln/>
        </p:spPr>
        <p:txBody>
          <a:bodyPr wrap="square" lIns="0" tIns="0" rIns="0" bIns="0" rtlCol="0" anchor="t"/>
          <a:lstStyle/>
          <a:p>
            <a:pPr indent="0" marL="0">
              <a:buNone/>
            </a:pPr>
            <a:r>
              <a:rPr lang="en-US" sz="1400" dirty="0">
                <a:solidFill>
                  <a:schemeClr val="accent4"/>
                </a:solidFill>
              </a:rPr>
              <a:t>7 clean fabrics with seams or folds taken for broken thread</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The web app: a photo in, an inspection report out</a:t>
            </a:r>
            <a:endParaRPr lang="en-US" sz="3200" dirty="0"/>
          </a:p>
        </p:txBody>
      </p:sp>
      <p:pic>
        <p:nvPicPr>
          <p:cNvPr id="4" name="Image 0" descr="C:\Users\LEEN TEXTILE\AppData\Local\Temp\claude\c--Users-LEEN-TEXTILE-Desktop-project\fc54ecae-a23f-4005-9127-854e117de4b4\scratchpad\deck\img\demo.png">    </p:cNvPr>
          <p:cNvPicPr>
            <a:picLocks noChangeAspect="1"/>
          </p:cNvPicPr>
          <p:nvPr/>
        </p:nvPicPr>
        <p:blipFill>
          <a:blip r:embed="rId1"/>
          <a:stretch>
            <a:fillRect/>
          </a:stretch>
        </p:blipFill>
        <p:spPr>
          <a:xfrm>
            <a:off x="548640" y="1280160"/>
            <a:ext cx="5989320" cy="4937760"/>
          </a:xfrm>
          <a:prstGeom prst="rect">
            <a:avLst/>
          </a:prstGeom>
        </p:spPr>
      </p:pic>
      <p:sp>
        <p:nvSpPr>
          <p:cNvPr id="5" name="Text 1"/>
          <p:cNvSpPr txBox="1"/>
          <p:nvPr/>
        </p:nvSpPr>
        <p:spPr>
          <a:xfrm>
            <a:off x="6995160" y="1463040"/>
            <a:ext cx="4617720" cy="42062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Upload a photo, use the camera or pick a sample</a:t>
            </a:r>
            <a:endParaRPr lang="en-US" sz="1800" dirty="0"/>
          </a:p>
          <a:p>
            <a:pPr marL="228600" indent="-228600">
              <a:spcAft>
                <a:spcPts val="800"/>
              </a:spcAft>
              <a:buSzPct val="100000"/>
              <a:buChar char="•"/>
            </a:pPr>
            <a:r>
              <a:rPr lang="en-US" sz="1800" dirty="0">
                <a:solidFill>
                  <a:schemeClr val="tx1"/>
                </a:solidFill>
              </a:rPr>
              <a:t>Class and confidence for all four classes</a:t>
            </a:r>
            <a:endParaRPr lang="en-US" sz="1800" dirty="0"/>
          </a:p>
          <a:p>
            <a:pPr marL="228600" indent="-228600">
              <a:spcAft>
                <a:spcPts val="800"/>
              </a:spcAft>
              <a:buSzPct val="100000"/>
              <a:buChar char="•"/>
            </a:pPr>
            <a:r>
              <a:rPr lang="en-US" sz="1800" dirty="0">
                <a:solidFill>
                  <a:schemeClr val="tx1"/>
                </a:solidFill>
              </a:rPr>
              <a:t>Location on a 3 × 3 grid, affected area and severity</a:t>
            </a:r>
            <a:endParaRPr lang="en-US" sz="1800" dirty="0"/>
          </a:p>
          <a:p>
            <a:pPr marL="228600" indent="-228600">
              <a:spcAft>
                <a:spcPts val="800"/>
              </a:spcAft>
              <a:buSzPct val="100000"/>
              <a:buChar char="•"/>
            </a:pPr>
            <a:r>
              <a:rPr lang="en-US" sz="1800" dirty="0">
                <a:solidFill>
                  <a:schemeClr val="tx1"/>
                </a:solidFill>
              </a:rPr>
              <a:t>Automatic description: likely causes and recommended action</a:t>
            </a:r>
            <a:endParaRPr lang="en-US" sz="1800" dirty="0"/>
          </a:p>
          <a:p>
            <a:pPr marL="228600" indent="-228600">
              <a:spcAft>
                <a:spcPts val="800"/>
              </a:spcAft>
              <a:buSzPct val="100000"/>
              <a:buChar char="•"/>
            </a:pPr>
            <a:r>
              <a:rPr lang="en-US" sz="1800" dirty="0">
                <a:solidFill>
                  <a:schemeClr val="tx1"/>
                </a:solidFill>
              </a:rPr>
              <a:t>Report as PDF, PNG or text</a:t>
            </a:r>
            <a:endParaRPr lang="en-US" sz="1800" dirty="0"/>
          </a:p>
          <a:p>
            <a:pPr marL="228600" indent="-228600">
              <a:spcAft>
                <a:spcPts val="800"/>
              </a:spcAft>
              <a:buSzPct val="100000"/>
              <a:buChar char="•"/>
            </a:pPr>
            <a:r>
              <a:rPr lang="en-US" sz="1800" dirty="0">
                <a:solidFill>
                  <a:schemeClr val="tx1"/>
                </a:solidFill>
              </a:rPr>
              <a:t>Runs on the device with ONNX Runtime Web: nothing is uploaded</a:t>
            </a:r>
            <a:endParaRPr lang="en-US" sz="1800" dirty="0"/>
          </a:p>
        </p:txBody>
      </p:sp>
      <p:sp>
        <p:nvSpPr>
          <p:cNvPr id="6" name="Text 2"/>
          <p:cNvSpPr txBox="1"/>
          <p:nvPr/>
        </p:nvSpPr>
        <p:spPr>
          <a:xfrm>
            <a:off x="6995160" y="5623560"/>
            <a:ext cx="4617720" cy="411480"/>
          </a:xfrm>
          <a:prstGeom prst="rect">
            <a:avLst/>
          </a:prstGeom>
          <a:noFill/>
          <a:ln/>
        </p:spPr>
        <p:txBody>
          <a:bodyPr wrap="square" lIns="0" tIns="0" rIns="0" bIns="0" rtlCol="0" anchor="t"/>
          <a:lstStyle/>
          <a:p>
            <a:pPr indent="0" marL="0">
              <a:buNone/>
            </a:pPr>
            <a:r>
              <a:rPr lang="en-US" sz="1800" b="1" dirty="0">
                <a:solidFill>
                  <a:schemeClr val="accent1"/>
                </a:solidFill>
              </a:rPr>
              <a:t>fabricscan-ai.vercel.app</a:t>
            </a:r>
            <a:endParaRPr lang="en-US" sz="18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Open, reproducible and ready for automatic testing</a:t>
            </a:r>
            <a:endParaRPr lang="en-US" sz="3200" dirty="0"/>
          </a:p>
        </p:txBody>
      </p:sp>
      <p:sp>
        <p:nvSpPr>
          <p:cNvPr id="4" name="Shape 1"/>
          <p:cNvSpPr/>
          <p:nvPr/>
        </p:nvSpPr>
        <p:spPr>
          <a:xfrm>
            <a:off x="548640" y="1371600"/>
            <a:ext cx="5669280" cy="749808"/>
          </a:xfrm>
          <a:prstGeom prst="roundRect">
            <a:avLst>
              <a:gd name="adj" fmla="val 14634"/>
            </a:avLst>
          </a:prstGeom>
          <a:solidFill>
            <a:schemeClr val="bg2"/>
          </a:solidFill>
          <a:ln w="12700">
            <a:solidFill>
              <a:schemeClr val="bg2"/>
            </a:solidFill>
            <a:prstDash val="solid"/>
          </a:ln>
        </p:spPr>
      </p:sp>
      <p:sp>
        <p:nvSpPr>
          <p:cNvPr id="5" name="Text 2"/>
          <p:cNvSpPr txBox="1"/>
          <p:nvPr/>
        </p:nvSpPr>
        <p:spPr>
          <a:xfrm>
            <a:off x="777240" y="1554480"/>
            <a:ext cx="1828800" cy="41148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weights/</a:t>
            </a:r>
            <a:endParaRPr lang="en-US" sz="1600" dirty="0"/>
          </a:p>
        </p:txBody>
      </p:sp>
      <p:sp>
        <p:nvSpPr>
          <p:cNvPr id="6" name="Text 3"/>
          <p:cNvSpPr txBox="1"/>
          <p:nvPr/>
        </p:nvSpPr>
        <p:spPr>
          <a:xfrm>
            <a:off x="2697480" y="1554480"/>
            <a:ext cx="3383280" cy="411480"/>
          </a:xfrm>
          <a:prstGeom prst="rect">
            <a:avLst/>
          </a:prstGeom>
          <a:noFill/>
          <a:ln/>
        </p:spPr>
        <p:txBody>
          <a:bodyPr wrap="square" lIns="0" tIns="0" rIns="0" bIns="0" rtlCol="0" anchor="t"/>
          <a:lstStyle/>
          <a:p>
            <a:pPr indent="0" marL="0">
              <a:buNone/>
            </a:pPr>
            <a:r>
              <a:rPr lang="en-US" sz="1600" dirty="0">
                <a:solidFill>
                  <a:schemeClr val="tx1"/>
                </a:solidFill>
              </a:rPr>
              <a:t>both models in ONNX and Keras, with metrics</a:t>
            </a:r>
            <a:endParaRPr lang="en-US" sz="1600" dirty="0"/>
          </a:p>
        </p:txBody>
      </p:sp>
      <p:sp>
        <p:nvSpPr>
          <p:cNvPr id="7" name="Shape 4"/>
          <p:cNvSpPr/>
          <p:nvPr/>
        </p:nvSpPr>
        <p:spPr>
          <a:xfrm>
            <a:off x="548640" y="2267712"/>
            <a:ext cx="5669280" cy="749808"/>
          </a:xfrm>
          <a:prstGeom prst="roundRect">
            <a:avLst>
              <a:gd name="adj" fmla="val 14634"/>
            </a:avLst>
          </a:prstGeom>
          <a:solidFill>
            <a:schemeClr val="bg2"/>
          </a:solidFill>
          <a:ln w="12700">
            <a:solidFill>
              <a:schemeClr val="bg2"/>
            </a:solidFill>
            <a:prstDash val="solid"/>
          </a:ln>
        </p:spPr>
      </p:sp>
      <p:sp>
        <p:nvSpPr>
          <p:cNvPr id="8" name="Text 5"/>
          <p:cNvSpPr txBox="1"/>
          <p:nvPr/>
        </p:nvSpPr>
        <p:spPr>
          <a:xfrm>
            <a:off x="777240" y="2450592"/>
            <a:ext cx="1828800" cy="41148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predict.py</a:t>
            </a:r>
            <a:endParaRPr lang="en-US" sz="1600" dirty="0"/>
          </a:p>
        </p:txBody>
      </p:sp>
      <p:sp>
        <p:nvSpPr>
          <p:cNvPr id="9" name="Text 6"/>
          <p:cNvSpPr txBox="1"/>
          <p:nvPr/>
        </p:nvSpPr>
        <p:spPr>
          <a:xfrm>
            <a:off x="2697480" y="2450592"/>
            <a:ext cx="3383280" cy="411480"/>
          </a:xfrm>
          <a:prstGeom prst="rect">
            <a:avLst/>
          </a:prstGeom>
          <a:noFill/>
          <a:ln/>
        </p:spPr>
        <p:txBody>
          <a:bodyPr wrap="square" lIns="0" tIns="0" rIns="0" bIns="0" rtlCol="0" anchor="t"/>
          <a:lstStyle/>
          <a:p>
            <a:pPr indent="0" marL="0">
              <a:buNone/>
            </a:pPr>
            <a:r>
              <a:rPr lang="en-US" sz="1600" dirty="0">
                <a:solidFill>
                  <a:schemeClr val="tx1"/>
                </a:solidFill>
              </a:rPr>
              <a:t>one-command inference and evaluation</a:t>
            </a:r>
            <a:endParaRPr lang="en-US" sz="1600" dirty="0"/>
          </a:p>
        </p:txBody>
      </p:sp>
      <p:sp>
        <p:nvSpPr>
          <p:cNvPr id="10" name="Shape 7"/>
          <p:cNvSpPr/>
          <p:nvPr/>
        </p:nvSpPr>
        <p:spPr>
          <a:xfrm>
            <a:off x="548640" y="3163824"/>
            <a:ext cx="5669280" cy="749808"/>
          </a:xfrm>
          <a:prstGeom prst="roundRect">
            <a:avLst>
              <a:gd name="adj" fmla="val 14634"/>
            </a:avLst>
          </a:prstGeom>
          <a:solidFill>
            <a:schemeClr val="bg2"/>
          </a:solidFill>
          <a:ln w="12700">
            <a:solidFill>
              <a:schemeClr val="bg2"/>
            </a:solidFill>
            <a:prstDash val="solid"/>
          </a:ln>
        </p:spPr>
      </p:sp>
      <p:sp>
        <p:nvSpPr>
          <p:cNvPr id="11" name="Text 8"/>
          <p:cNvSpPr txBox="1"/>
          <p:nvPr/>
        </p:nvSpPr>
        <p:spPr>
          <a:xfrm>
            <a:off x="777240" y="3346704"/>
            <a:ext cx="1828800" cy="41148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test_samples/</a:t>
            </a:r>
            <a:endParaRPr lang="en-US" sz="1600" dirty="0"/>
          </a:p>
        </p:txBody>
      </p:sp>
      <p:sp>
        <p:nvSpPr>
          <p:cNvPr id="12" name="Text 9"/>
          <p:cNvSpPr txBox="1"/>
          <p:nvPr/>
        </p:nvSpPr>
        <p:spPr>
          <a:xfrm>
            <a:off x="2697480" y="3346704"/>
            <a:ext cx="3383280" cy="411480"/>
          </a:xfrm>
          <a:prstGeom prst="rect">
            <a:avLst/>
          </a:prstGeom>
          <a:noFill/>
          <a:ln/>
        </p:spPr>
        <p:txBody>
          <a:bodyPr wrap="square" lIns="0" tIns="0" rIns="0" bIns="0" rtlCol="0" anchor="t"/>
          <a:lstStyle/>
          <a:p>
            <a:pPr indent="0" marL="0">
              <a:buNone/>
            </a:pPr>
            <a:r>
              <a:rPr lang="en-US" sz="1600" dirty="0">
                <a:solidFill>
                  <a:schemeClr val="tx1"/>
                </a:solidFill>
              </a:rPr>
              <a:t>labelled test images for a quick check</a:t>
            </a:r>
            <a:endParaRPr lang="en-US" sz="1600" dirty="0"/>
          </a:p>
        </p:txBody>
      </p:sp>
      <p:sp>
        <p:nvSpPr>
          <p:cNvPr id="13" name="Shape 10"/>
          <p:cNvSpPr/>
          <p:nvPr/>
        </p:nvSpPr>
        <p:spPr>
          <a:xfrm>
            <a:off x="548640" y="4059936"/>
            <a:ext cx="5669280" cy="749808"/>
          </a:xfrm>
          <a:prstGeom prst="roundRect">
            <a:avLst>
              <a:gd name="adj" fmla="val 14634"/>
            </a:avLst>
          </a:prstGeom>
          <a:solidFill>
            <a:schemeClr val="bg2"/>
          </a:solidFill>
          <a:ln w="12700">
            <a:solidFill>
              <a:schemeClr val="bg2"/>
            </a:solidFill>
            <a:prstDash val="solid"/>
          </a:ln>
        </p:spPr>
      </p:sp>
      <p:sp>
        <p:nvSpPr>
          <p:cNvPr id="14" name="Text 11"/>
          <p:cNvSpPr txBox="1"/>
          <p:nvPr/>
        </p:nvSpPr>
        <p:spPr>
          <a:xfrm>
            <a:off x="777240" y="4242816"/>
            <a:ext cx="1828800" cy="41148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dataset ZIP</a:t>
            </a:r>
            <a:endParaRPr lang="en-US" sz="1600" dirty="0"/>
          </a:p>
        </p:txBody>
      </p:sp>
      <p:sp>
        <p:nvSpPr>
          <p:cNvPr id="15" name="Text 12"/>
          <p:cNvSpPr txBox="1"/>
          <p:nvPr/>
        </p:nvSpPr>
        <p:spPr>
          <a:xfrm>
            <a:off x="2697480" y="4242816"/>
            <a:ext cx="3383280" cy="411480"/>
          </a:xfrm>
          <a:prstGeom prst="rect">
            <a:avLst/>
          </a:prstGeom>
          <a:noFill/>
          <a:ln/>
        </p:spPr>
        <p:txBody>
          <a:bodyPr wrap="square" lIns="0" tIns="0" rIns="0" bIns="0" rtlCol="0" anchor="t"/>
          <a:lstStyle/>
          <a:p>
            <a:pPr indent="0" marL="0">
              <a:buNone/>
            </a:pPr>
            <a:r>
              <a:rPr lang="en-US" sz="1600" dirty="0">
                <a:solidFill>
                  <a:schemeClr val="tx1"/>
                </a:solidFill>
              </a:rPr>
              <a:t>all images, train / val / test, SOURCES.csv</a:t>
            </a:r>
            <a:endParaRPr lang="en-US" sz="1600" dirty="0"/>
          </a:p>
        </p:txBody>
      </p:sp>
      <p:sp>
        <p:nvSpPr>
          <p:cNvPr id="16" name="Shape 13"/>
          <p:cNvSpPr/>
          <p:nvPr/>
        </p:nvSpPr>
        <p:spPr>
          <a:xfrm>
            <a:off x="548640" y="4956048"/>
            <a:ext cx="5669280" cy="749808"/>
          </a:xfrm>
          <a:prstGeom prst="roundRect">
            <a:avLst>
              <a:gd name="adj" fmla="val 14634"/>
            </a:avLst>
          </a:prstGeom>
          <a:solidFill>
            <a:schemeClr val="bg2"/>
          </a:solidFill>
          <a:ln w="12700">
            <a:solidFill>
              <a:schemeClr val="bg2"/>
            </a:solidFill>
            <a:prstDash val="solid"/>
          </a:ln>
        </p:spPr>
      </p:sp>
      <p:sp>
        <p:nvSpPr>
          <p:cNvPr id="17" name="Text 14"/>
          <p:cNvSpPr txBox="1"/>
          <p:nvPr/>
        </p:nvSpPr>
        <p:spPr>
          <a:xfrm>
            <a:off x="777240" y="5138928"/>
            <a:ext cx="1828800" cy="41148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README</a:t>
            </a:r>
            <a:endParaRPr lang="en-US" sz="1600" dirty="0"/>
          </a:p>
        </p:txBody>
      </p:sp>
      <p:sp>
        <p:nvSpPr>
          <p:cNvPr id="18" name="Text 15"/>
          <p:cNvSpPr txBox="1"/>
          <p:nvPr/>
        </p:nvSpPr>
        <p:spPr>
          <a:xfrm>
            <a:off x="2697480" y="5138928"/>
            <a:ext cx="3383280" cy="411480"/>
          </a:xfrm>
          <a:prstGeom prst="rect">
            <a:avLst/>
          </a:prstGeom>
          <a:noFill/>
          <a:ln/>
        </p:spPr>
        <p:txBody>
          <a:bodyPr wrap="square" lIns="0" tIns="0" rIns="0" bIns="0" rtlCol="0" anchor="t"/>
          <a:lstStyle/>
          <a:p>
            <a:pPr indent="0" marL="0">
              <a:buNone/>
            </a:pPr>
            <a:r>
              <a:rPr lang="en-US" sz="1600" dirty="0">
                <a:solidFill>
                  <a:schemeClr val="tx1"/>
                </a:solidFill>
              </a:rPr>
              <a:t>results, method and how to run everything</a:t>
            </a:r>
            <a:endParaRPr lang="en-US" sz="1600" dirty="0"/>
          </a:p>
        </p:txBody>
      </p:sp>
      <p:sp>
        <p:nvSpPr>
          <p:cNvPr id="19" name="Shape 16"/>
          <p:cNvSpPr/>
          <p:nvPr/>
        </p:nvSpPr>
        <p:spPr>
          <a:xfrm>
            <a:off x="6583680" y="1371600"/>
            <a:ext cx="5029200" cy="2148840"/>
          </a:xfrm>
          <a:prstGeom prst="roundRect">
            <a:avLst>
              <a:gd name="adj" fmla="val 5106"/>
            </a:avLst>
          </a:prstGeom>
          <a:solidFill>
            <a:schemeClr val="accent3"/>
          </a:solidFill>
          <a:ln w="12700">
            <a:solidFill>
              <a:schemeClr val="accent3"/>
            </a:solidFill>
            <a:prstDash val="solid"/>
          </a:ln>
        </p:spPr>
      </p:sp>
      <p:sp>
        <p:nvSpPr>
          <p:cNvPr id="20" name="Text 17"/>
          <p:cNvSpPr txBox="1"/>
          <p:nvPr/>
        </p:nvSpPr>
        <p:spPr>
          <a:xfrm>
            <a:off x="6858000" y="1645920"/>
            <a:ext cx="4572000" cy="164592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 pip install numpy pillow onnxruntime</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python predict.py test_samples --eval</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buNone/>
            </a:pPr>
            <a:r>
              <a:rPr lang="en-US" sz="1500" b="1" dirty="0">
                <a:solidFill>
                  <a:schemeClr val="accent2"/>
                </a:solidFill>
                <a:latin typeface="Courier New" pitchFamily="34" charset="0"/>
                <a:ea typeface="Courier New" pitchFamily="34" charset="-122"/>
                <a:cs typeface="Courier New" pitchFamily="34" charset="-120"/>
              </a:rPr>
              <a:t>Accuracy: 0.8250 (33/40 images)</a:t>
            </a:r>
            <a:endParaRPr lang="en-US" sz="1500" dirty="0"/>
          </a:p>
        </p:txBody>
      </p:sp>
      <p:sp>
        <p:nvSpPr>
          <p:cNvPr id="21" name="Text 18"/>
          <p:cNvSpPr txBox="1"/>
          <p:nvPr/>
        </p:nvSpPr>
        <p:spPr>
          <a:xfrm>
            <a:off x="6583680" y="3840480"/>
            <a:ext cx="5029200" cy="9144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Live: </a:t>
            </a:r>
            <a:pPr indent="0" marL="0">
              <a:spcAft>
                <a:spcPts val="600"/>
              </a:spcAft>
              <a:buNone/>
            </a:pPr>
            <a:r>
              <a:rPr lang="en-US" sz="1600" dirty="0">
                <a:solidFill>
                  <a:schemeClr val="tx1"/>
                </a:solidFill>
              </a:rPr>
              <a:t>fabricscan-ai.vercel.app</a:t>
            </a:r>
            <a:endParaRPr lang="en-US" sz="1600" dirty="0"/>
          </a:p>
          <a:p>
            <a:pPr indent="0" marL="0">
              <a:spcAft>
                <a:spcPts val="600"/>
              </a:spcAft>
              <a:buNone/>
            </a:pPr>
            <a:r>
              <a:rPr lang="en-US" sz="1600" b="1" dirty="0">
                <a:solidFill>
                  <a:schemeClr val="tx1"/>
                </a:solidFill>
              </a:rPr>
              <a:t>Code: </a:t>
            </a:r>
            <a:pPr indent="0" marL="0">
              <a:spcAft>
                <a:spcPts val="600"/>
              </a:spcAft>
              <a:buNone/>
            </a:pPr>
            <a:r>
              <a:rPr lang="en-US" sz="1600" dirty="0">
                <a:solidFill>
                  <a:schemeClr val="tx1"/>
                </a:solidFill>
              </a:rPr>
              <a:t>github.com/hamzaDeploys/fabricscan-ai</a:t>
            </a:r>
            <a:endParaRPr lang="en-US" sz="1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548640" y="347472"/>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Limitations and next steps</a:t>
            </a:r>
            <a:endParaRPr lang="en-US" sz="3200" dirty="0"/>
          </a:p>
        </p:txBody>
      </p:sp>
      <p:sp>
        <p:nvSpPr>
          <p:cNvPr id="4" name="Shape 1"/>
          <p:cNvSpPr/>
          <p:nvPr/>
        </p:nvSpPr>
        <p:spPr>
          <a:xfrm>
            <a:off x="548640" y="1371600"/>
            <a:ext cx="5440680" cy="3429000"/>
          </a:xfrm>
          <a:prstGeom prst="roundRect">
            <a:avLst>
              <a:gd name="adj" fmla="val 3200"/>
            </a:avLst>
          </a:prstGeom>
          <a:solidFill>
            <a:schemeClr val="bg2"/>
          </a:solidFill>
          <a:ln w="12700">
            <a:solidFill>
              <a:schemeClr val="bg2"/>
            </a:solidFill>
            <a:prstDash val="solid"/>
          </a:ln>
        </p:spPr>
      </p:sp>
      <p:sp>
        <p:nvSpPr>
          <p:cNvPr id="5" name="Shape 2"/>
          <p:cNvSpPr/>
          <p:nvPr/>
        </p:nvSpPr>
        <p:spPr>
          <a:xfrm>
            <a:off x="822960" y="1700784"/>
            <a:ext cx="292608" cy="292608"/>
          </a:xfrm>
          <a:prstGeom prst="ellipse">
            <a:avLst/>
          </a:prstGeom>
          <a:solidFill>
            <a:schemeClr val="accent2"/>
          </a:solidFill>
          <a:ln w="12700">
            <a:solidFill>
              <a:schemeClr val="accent2"/>
            </a:solidFill>
            <a:prstDash val="solid"/>
          </a:ln>
        </p:spPr>
      </p:sp>
      <p:sp>
        <p:nvSpPr>
          <p:cNvPr id="6" name="Text 3"/>
          <p:cNvSpPr txBox="1"/>
          <p:nvPr/>
        </p:nvSpPr>
        <p:spPr>
          <a:xfrm>
            <a:off x="1280160" y="1600200"/>
            <a:ext cx="4389120" cy="457200"/>
          </a:xfrm>
          <a:prstGeom prst="rect">
            <a:avLst/>
          </a:prstGeom>
          <a:noFill/>
          <a:ln/>
        </p:spPr>
        <p:txBody>
          <a:bodyPr wrap="square" lIns="0" tIns="0" rIns="0" bIns="0" rtlCol="0" anchor="t"/>
          <a:lstStyle/>
          <a:p>
            <a:pPr indent="0" marL="0">
              <a:buNone/>
            </a:pPr>
            <a:r>
              <a:rPr lang="en-US" sz="2400" b="1" dirty="0">
                <a:solidFill>
                  <a:schemeClr val="tx1"/>
                </a:solidFill>
              </a:rPr>
              <a:t>Limitations</a:t>
            </a:r>
            <a:endParaRPr lang="en-US" sz="2400" dirty="0"/>
          </a:p>
        </p:txBody>
      </p:sp>
      <p:sp>
        <p:nvSpPr>
          <p:cNvPr id="7" name="Text 4"/>
          <p:cNvSpPr txBox="1"/>
          <p:nvPr/>
        </p:nvSpPr>
        <p:spPr>
          <a:xfrm>
            <a:off x="822960" y="2331720"/>
            <a:ext cx="4892040" cy="233172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Only four classes: tears or colour bleeding are unknown to the model</a:t>
            </a:r>
            <a:endParaRPr lang="en-US" sz="1700" dirty="0"/>
          </a:p>
          <a:p>
            <a:pPr marL="228600" indent="-228600">
              <a:spcAft>
                <a:spcPts val="800"/>
              </a:spcAft>
              <a:buSzPct val="100000"/>
              <a:buChar char="•"/>
            </a:pPr>
            <a:r>
              <a:rPr lang="en-US" sz="1700" dirty="0">
                <a:solidFill>
                  <a:schemeClr val="tx1"/>
                </a:solidFill>
              </a:rPr>
              <a:t>Stain is the weakest class (recall 0.65)</a:t>
            </a:r>
            <a:endParaRPr lang="en-US" sz="1700" dirty="0"/>
          </a:p>
          <a:p>
            <a:pPr marL="228600" indent="-228600">
              <a:spcAft>
                <a:spcPts val="800"/>
              </a:spcAft>
              <a:buSzPct val="100000"/>
              <a:buChar char="•"/>
            </a:pPr>
            <a:r>
              <a:rPr lang="en-US" sz="1700" dirty="0">
                <a:solidFill>
                  <a:schemeClr val="tx1"/>
                </a:solidFill>
              </a:rPr>
              <a:t>Very different lighting or distance can mislead the model</a:t>
            </a:r>
            <a:endParaRPr lang="en-US" sz="1700" dirty="0"/>
          </a:p>
          <a:p>
            <a:pPr marL="228600" indent="-228600">
              <a:spcAft>
                <a:spcPts val="800"/>
              </a:spcAft>
              <a:buSzPct val="100000"/>
              <a:buChar char="•"/>
            </a:pPr>
            <a:r>
              <a:rPr lang="en-US" sz="1700" dirty="0">
                <a:solidFill>
                  <a:schemeClr val="tx1"/>
                </a:solidFill>
              </a:rPr>
              <a:t>Location and area are estimates from an activation map</a:t>
            </a:r>
            <a:endParaRPr lang="en-US" sz="1700" dirty="0"/>
          </a:p>
        </p:txBody>
      </p:sp>
      <p:sp>
        <p:nvSpPr>
          <p:cNvPr id="8" name="Shape 5"/>
          <p:cNvSpPr/>
          <p:nvPr/>
        </p:nvSpPr>
        <p:spPr>
          <a:xfrm>
            <a:off x="6172200" y="1371600"/>
            <a:ext cx="5440680" cy="3429000"/>
          </a:xfrm>
          <a:prstGeom prst="roundRect">
            <a:avLst>
              <a:gd name="adj" fmla="val 3200"/>
            </a:avLst>
          </a:prstGeom>
          <a:solidFill>
            <a:schemeClr val="bg2"/>
          </a:solidFill>
          <a:ln w="12700">
            <a:solidFill>
              <a:schemeClr val="bg2"/>
            </a:solidFill>
            <a:prstDash val="solid"/>
          </a:ln>
        </p:spPr>
      </p:sp>
      <p:sp>
        <p:nvSpPr>
          <p:cNvPr id="9" name="Shape 6"/>
          <p:cNvSpPr/>
          <p:nvPr/>
        </p:nvSpPr>
        <p:spPr>
          <a:xfrm>
            <a:off x="6446520" y="1700784"/>
            <a:ext cx="292608" cy="292608"/>
          </a:xfrm>
          <a:prstGeom prst="ellipse">
            <a:avLst/>
          </a:prstGeom>
          <a:solidFill>
            <a:schemeClr val="accent1"/>
          </a:solidFill>
          <a:ln w="12700">
            <a:solidFill>
              <a:schemeClr val="accent1"/>
            </a:solidFill>
            <a:prstDash val="solid"/>
          </a:ln>
        </p:spPr>
      </p:sp>
      <p:sp>
        <p:nvSpPr>
          <p:cNvPr id="10" name="Text 7"/>
          <p:cNvSpPr txBox="1"/>
          <p:nvPr/>
        </p:nvSpPr>
        <p:spPr>
          <a:xfrm>
            <a:off x="6903720" y="1600200"/>
            <a:ext cx="4389120" cy="457200"/>
          </a:xfrm>
          <a:prstGeom prst="rect">
            <a:avLst/>
          </a:prstGeom>
          <a:noFill/>
          <a:ln/>
        </p:spPr>
        <p:txBody>
          <a:bodyPr wrap="square" lIns="0" tIns="0" rIns="0" bIns="0" rtlCol="0" anchor="t"/>
          <a:lstStyle/>
          <a:p>
            <a:pPr indent="0" marL="0">
              <a:buNone/>
            </a:pPr>
            <a:r>
              <a:rPr lang="en-US" sz="2400" b="1" dirty="0">
                <a:solidFill>
                  <a:schemeClr val="tx1"/>
                </a:solidFill>
              </a:rPr>
              <a:t>Next steps</a:t>
            </a:r>
            <a:endParaRPr lang="en-US" sz="2400" dirty="0"/>
          </a:p>
        </p:txBody>
      </p:sp>
      <p:sp>
        <p:nvSpPr>
          <p:cNvPr id="11" name="Text 8"/>
          <p:cNvSpPr txBox="1"/>
          <p:nvPr/>
        </p:nvSpPr>
        <p:spPr>
          <a:xfrm>
            <a:off x="6446520" y="2331720"/>
            <a:ext cx="4892040" cy="233172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More classes and own photos from real production</a:t>
            </a:r>
            <a:endParaRPr lang="en-US" sz="1700" dirty="0"/>
          </a:p>
          <a:p>
            <a:pPr marL="228600" indent="-228600">
              <a:spcAft>
                <a:spcPts val="800"/>
              </a:spcAft>
              <a:buSzPct val="100000"/>
              <a:buChar char="•"/>
            </a:pPr>
            <a:r>
              <a:rPr lang="en-US" sz="1700" dirty="0">
                <a:solidFill>
                  <a:schemeClr val="tx1"/>
                </a:solidFill>
              </a:rPr>
              <a:t>Segmentation masks for exact defect outlines</a:t>
            </a:r>
            <a:endParaRPr lang="en-US" sz="1700" dirty="0"/>
          </a:p>
          <a:p>
            <a:pPr marL="228600" indent="-228600">
              <a:spcAft>
                <a:spcPts val="800"/>
              </a:spcAft>
              <a:buSzPct val="100000"/>
              <a:buChar char="•"/>
            </a:pPr>
            <a:r>
              <a:rPr lang="en-US" sz="1700" dirty="0">
                <a:solidFill>
                  <a:schemeClr val="tx1"/>
                </a:solidFill>
              </a:rPr>
              <a:t>Longer fine-tuning at a higher resolution</a:t>
            </a:r>
            <a:endParaRPr lang="en-US" sz="1700" dirty="0"/>
          </a:p>
          <a:p>
            <a:pPr marL="228600" indent="-228600">
              <a:spcAft>
                <a:spcPts val="800"/>
              </a:spcAft>
              <a:buSzPct val="100000"/>
              <a:buChar char="•"/>
            </a:pPr>
            <a:r>
              <a:rPr lang="en-US" sz="1700" dirty="0">
                <a:solidFill>
                  <a:schemeClr val="tx1"/>
                </a:solidFill>
              </a:rPr>
              <a:t>A camera mode for continuous inspection on a line</a:t>
            </a:r>
            <a:endParaRPr lang="en-US" sz="1700" dirty="0"/>
          </a:p>
        </p:txBody>
      </p:sp>
      <p:sp>
        <p:nvSpPr>
          <p:cNvPr id="12" name="Shape 9"/>
          <p:cNvSpPr/>
          <p:nvPr/>
        </p:nvSpPr>
        <p:spPr>
          <a:xfrm>
            <a:off x="548640" y="5029200"/>
            <a:ext cx="11064240" cy="914400"/>
          </a:xfrm>
          <a:prstGeom prst="roundRect">
            <a:avLst>
              <a:gd name="adj" fmla="val 12000"/>
            </a:avLst>
          </a:prstGeom>
          <a:solidFill>
            <a:schemeClr val="accent3"/>
          </a:solidFill>
          <a:ln w="12700">
            <a:solidFill>
              <a:schemeClr val="accent3"/>
            </a:solidFill>
            <a:prstDash val="solid"/>
          </a:ln>
        </p:spPr>
      </p:sp>
      <p:sp>
        <p:nvSpPr>
          <p:cNvPr id="13" name="Text 10"/>
          <p:cNvSpPr txBox="1"/>
          <p:nvPr/>
        </p:nvSpPr>
        <p:spPr>
          <a:xfrm>
            <a:off x="868680" y="5138928"/>
            <a:ext cx="10424160" cy="694944"/>
          </a:xfrm>
          <a:prstGeom prst="rect">
            <a:avLst/>
          </a:prstGeom>
          <a:noFill/>
          <a:ln/>
        </p:spPr>
        <p:txBody>
          <a:bodyPr wrap="square" lIns="0" tIns="0" rIns="0" bIns="0" rtlCol="0" anchor="ctr"/>
          <a:lstStyle/>
          <a:p>
            <a:pPr indent="0" marL="0">
              <a:buNone/>
            </a:pPr>
            <a:r>
              <a:rPr lang="en-US" sz="1600" b="1" dirty="0">
                <a:solidFill>
                  <a:schemeClr val="accent2"/>
                </a:solidFill>
              </a:rPr>
              <a:t>Main lesson: </a:t>
            </a:r>
            <a:pPr indent="0" marL="0">
              <a:buNone/>
            </a:pPr>
            <a:r>
              <a:rPr lang="en-US" sz="1600" dirty="0">
                <a:solidFill>
                  <a:schemeClr val="bg1"/>
                </a:solidFill>
              </a:rPr>
              <a:t>a good test score is not enough. Early tests with real camera photos exposed shortcuts the test set hid.</a:t>
            </a:r>
            <a:endParaRPr lang="en-US" sz="1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1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C:\Users\LEEN TEXTILE\AppData\Local\Temp\claude\c--Users-LEEN-TEXTILE-Desktop-project\fc54ecae-a23f-4005-9127-854e117de4b4\scratchpad\deck\img\logo.png">    </p:cNvPr>
          <p:cNvPicPr>
            <a:picLocks noChangeAspect="1"/>
          </p:cNvPicPr>
          <p:nvPr/>
        </p:nvPicPr>
        <p:blipFill>
          <a:blip r:embed="rId1"/>
          <a:stretch>
            <a:fillRect/>
          </a:stretch>
        </p:blipFill>
        <p:spPr>
          <a:xfrm>
            <a:off x="640080" y="640080"/>
            <a:ext cx="822960" cy="822960"/>
          </a:xfrm>
          <a:prstGeom prst="rect">
            <a:avLst/>
          </a:prstGeom>
        </p:spPr>
      </p:pic>
      <p:sp>
        <p:nvSpPr>
          <p:cNvPr id="4" name="Text 0"/>
          <p:cNvSpPr/>
          <p:nvPr>
            <p:ph idx="100" type="title" hasCustomPrompt="1"/>
          </p:nvPr>
        </p:nvSpPr>
        <p:spPr>
          <a:xfrm>
            <a:off x="640080" y="1965960"/>
            <a:ext cx="6583680" cy="109728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5" name="Text 0"/>
          <p:cNvSpPr/>
          <p:nvPr>
            <p:ph idx="101" type="body" hasCustomPrompt="1"/>
          </p:nvPr>
        </p:nvSpPr>
        <p:spPr>
          <a:xfrm>
            <a:off x="640080" y="3154680"/>
            <a:ext cx="6400800" cy="1097280"/>
          </a:xfrm>
          <a:prstGeom prst="rect">
            <a:avLst/>
          </a:prstGeom>
          <a:noFill/>
          <a:ln/>
        </p:spPr>
        <p:txBody>
          <a:bodyPr wrap="square" lIns="0" tIns="0" rIns="0" bIns="0" rtlCol="0" anchor="t"/>
          <a:lstStyle/>
          <a:p>
            <a:pPr indent="0" marL="0">
              <a:buNone/>
            </a:pPr>
            <a:r>
              <a:rPr lang="en-US" sz="2200" dirty="0">
                <a:solidFill>
                  <a:schemeClr val="bg2"/>
                </a:solidFill>
              </a:rPr>
              <a:t>Try FabricScan AI yourself</a:t>
            </a:r>
            <a:endParaRPr lang="en-US" sz="2200" dirty="0"/>
          </a:p>
        </p:txBody>
      </p:sp>
      <p:sp>
        <p:nvSpPr>
          <p:cNvPr id="6" name="Text 2"/>
          <p:cNvSpPr txBox="1"/>
          <p:nvPr/>
        </p:nvSpPr>
        <p:spPr>
          <a:xfrm>
            <a:off x="640080" y="3977640"/>
            <a:ext cx="6583680" cy="2011680"/>
          </a:xfrm>
          <a:prstGeom prst="rect">
            <a:avLst/>
          </a:prstGeom>
          <a:noFill/>
          <a:ln/>
        </p:spPr>
        <p:txBody>
          <a:bodyPr wrap="square" lIns="0" tIns="0" rIns="0" bIns="0" rtlCol="0" anchor="t"/>
          <a:lstStyle/>
          <a:p>
            <a:pPr indent="0" marL="0">
              <a:buNone/>
            </a:pPr>
            <a:r>
              <a:rPr lang="en-US" sz="1800" b="1" dirty="0">
                <a:solidFill>
                  <a:schemeClr val="accent2"/>
                </a:solidFill>
              </a:rPr>
              <a:t>Live website</a:t>
            </a:r>
            <a:endParaRPr lang="en-US" sz="1800" dirty="0"/>
          </a:p>
          <a:p>
            <a:pPr indent="0" marL="0">
              <a:buNone/>
            </a:pPr>
            <a:r>
              <a:rPr lang="en-US" sz="1800" dirty="0">
                <a:solidFill>
                  <a:schemeClr val="bg1"/>
                </a:solidFill>
              </a:rPr>
              <a:t>fabricscan-ai.vercel.app</a:t>
            </a:r>
            <a:endParaRPr lang="en-US" sz="1800" dirty="0"/>
          </a:p>
          <a:p>
            <a:pPr indent="0" marL="0">
              <a:buNone/>
            </a:pPr>
            <a:r>
              <a:rPr lang="en-US" sz="1800" dirty="0">
                <a:solidFill>
                  <a:schemeClr val="tx1"/>
                </a:solidFill>
              </a:rPr>
              <a:t> </a:t>
            </a:r>
            <a:endParaRPr lang="en-US" sz="1800" dirty="0"/>
          </a:p>
          <a:p>
            <a:pPr indent="0" marL="0">
              <a:buNone/>
            </a:pPr>
            <a:r>
              <a:rPr lang="en-US" sz="1800" b="1" dirty="0">
                <a:solidFill>
                  <a:schemeClr val="accent2"/>
                </a:solidFill>
              </a:rPr>
              <a:t>Code, dataset and model</a:t>
            </a:r>
            <a:endParaRPr lang="en-US" sz="1800" dirty="0"/>
          </a:p>
          <a:p>
            <a:pPr indent="0" marL="0">
              <a:buNone/>
            </a:pPr>
            <a:r>
              <a:rPr lang="en-US" sz="1800" dirty="0">
                <a:solidFill>
                  <a:schemeClr val="bg1"/>
                </a:solidFill>
              </a:rPr>
              <a:t>github.com/hamzaDeploys/fabricscan-ai</a:t>
            </a:r>
            <a:endParaRPr lang="en-US" sz="1800" dirty="0"/>
          </a:p>
        </p:txBody>
      </p:sp>
      <p:pic>
        <p:nvPicPr>
          <p:cNvPr id="7" name="Image 1" descr="C:\Users\LEEN TEXTILE\AppData\Local\Temp\claude\c--Users-LEEN-TEXTILE-Desktop-project\fc54ecae-a23f-4005-9127-854e117de4b4\scratchpad\deck\img\demo.png">    </p:cNvPr>
          <p:cNvPicPr>
            <a:picLocks noChangeAspect="1"/>
          </p:cNvPicPr>
          <p:nvPr/>
        </p:nvPicPr>
        <p:blipFill>
          <a:blip r:embed="rId2"/>
          <a:srcRect l="0" r="0" t="0" b="0"/>
          <a:stretch/>
        </p:blipFill>
        <p:spPr>
          <a:xfrm>
            <a:off x="7589520" y="1097280"/>
            <a:ext cx="4023360" cy="4663440"/>
          </a:xfrm>
          <a:prstGeom prst="rect">
            <a:avLst/>
          </a:prstGeom>
        </p:spPr>
      </p:pic>
    </p:spTree>
  </p:cSld>
  <p:clrMapOvr>
    <a:masterClrMapping/>
  </p:clrMapOvr>
</p:sld>
</file>

<file path=ppt/theme/theme1.xml><?xml version="1.0" encoding="utf-8"?>
<a:theme xmlns:a="http://schemas.openxmlformats.org/drawingml/2006/main" name="FabricScan">
  <a:themeElements>
    <a:clrScheme name="FabricScan">
      <a:dk1>
        <a:srgbClr val="1B1E3C"/>
      </a:dk1>
      <a:lt1>
        <a:srgbClr val="FFFFFF"/>
      </a:lt1>
      <a:dk2>
        <a:srgbClr val="3446C4"/>
      </a:dk2>
      <a:lt2>
        <a:srgbClr val="EEF0FA"/>
      </a:lt2>
      <a:accent1>
        <a:srgbClr val="3446C4"/>
      </a:accent1>
      <a:accent2>
        <a:srgbClr val="C9821F"/>
      </a:accent2>
      <a:accent3>
        <a:srgbClr val="1B1E3C"/>
      </a:accent3>
      <a:accent4>
        <a:srgbClr val="5B6170"/>
      </a:accent4>
      <a:accent5>
        <a:srgbClr val="FBF1DF"/>
      </a:accent5>
      <a:accent6>
        <a:srgbClr val="2E7D5B"/>
      </a:accent6>
      <a:hlink>
        <a:srgbClr val="3446C4"/>
      </a:hlink>
      <a:folHlink>
        <a:srgbClr val="5B3FB8"/>
      </a:folHlink>
    </a:clrScheme>
    <a:fontScheme name="FabricSca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FabricScan AI</dc:title>
  <dc:subject>Deep Learning semester project</dc:subject>
  <dc:creator>Hamza</dc:creator>
  <cp:lastModifiedBy>Hamza</cp:lastModifiedBy>
  <cp:revision>1</cp:revision>
  <dcterms:created xsi:type="dcterms:W3CDTF">2026-10-27T12:54:06Z</dcterms:created>
  <dcterms:modified xsi:type="dcterms:W3CDTF">2026-10-27T12:54:06Z</dcterms:modified>
</cp:coreProperties>
</file>